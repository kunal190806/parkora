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CE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72350" y="381000"/>
            <a:ext cx="14097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88" dirty="0">
                <a:solidFill>
                  <a:srgbClr val="4D5663"/>
                </a:solidFill>
              </a:rPr>
              <a:t>PARKORA · v0.1</a:t>
            </a:r>
            <a:endParaRPr lang="en-US" sz="488" dirty="0"/>
          </a:p>
        </p:txBody>
      </p:sp>
      <p:sp>
        <p:nvSpPr>
          <p:cNvPr id="3" name="Shape 1"/>
          <p:cNvSpPr/>
          <p:nvPr/>
        </p:nvSpPr>
        <p:spPr>
          <a:xfrm>
            <a:off x="8362950" y="495300"/>
            <a:ext cx="419100" cy="9525"/>
          </a:xfrm>
          <a:prstGeom prst="rect">
            <a:avLst/>
          </a:prstGeom>
          <a:solidFill>
            <a:srgbClr val="F2C300"/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1181100"/>
            <a:ext cx="81153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14253F"/>
                </a:solidFill>
              </a:rPr>
              <a:t>Mini Project · Engineering Brief</a:t>
            </a:r>
            <a:endParaRPr lang="en-US" sz="675" dirty="0"/>
          </a:p>
        </p:txBody>
      </p:sp>
      <p:sp>
        <p:nvSpPr>
          <p:cNvPr id="5" name="Text 3"/>
          <p:cNvSpPr/>
          <p:nvPr/>
        </p:nvSpPr>
        <p:spPr>
          <a:xfrm>
            <a:off x="571500" y="1428750"/>
            <a:ext cx="609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dirty="0">
                <a:solidFill>
                  <a:srgbClr val="14253F"/>
                </a:solidFill>
              </a:rPr>
              <a:t>PARKORA</a:t>
            </a:r>
            <a:endParaRPr lang="en-US" sz="9000" dirty="0"/>
          </a:p>
        </p:txBody>
      </p:sp>
      <p:sp>
        <p:nvSpPr>
          <p:cNvPr id="6" name="Shape 4"/>
          <p:cNvSpPr/>
          <p:nvPr/>
        </p:nvSpPr>
        <p:spPr>
          <a:xfrm>
            <a:off x="571500" y="2857500"/>
            <a:ext cx="428625" cy="28575"/>
          </a:xfrm>
          <a:prstGeom prst="rect">
            <a:avLst/>
          </a:prstGeom>
          <a:solidFill>
            <a:srgbClr val="F2C300"/>
          </a:solidFill>
          <a:ln/>
        </p:spPr>
      </p:sp>
      <p:sp>
        <p:nvSpPr>
          <p:cNvPr id="7" name="Text 5"/>
          <p:cNvSpPr/>
          <p:nvPr/>
        </p:nvSpPr>
        <p:spPr>
          <a:xfrm>
            <a:off x="571500" y="2981325"/>
            <a:ext cx="6286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14253F"/>
                </a:solidFill>
              </a:rPr>
              <a:t>Smart IoT-Based Parking Management System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571500" y="3714750"/>
            <a:ext cx="8001000" cy="4763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9" name="Text 7"/>
          <p:cNvSpPr/>
          <p:nvPr/>
        </p:nvSpPr>
        <p:spPr>
          <a:xfrm>
            <a:off x="571500" y="3867150"/>
            <a:ext cx="14287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8" dirty="0">
                <a:solidFill>
                  <a:srgbClr val="4D5663"/>
                </a:solidFill>
              </a:rPr>
              <a:t>Team Members [Your Names] / [Roll Numbers]</a:t>
            </a:r>
            <a:endParaRPr lang="en-US" sz="488" dirty="0"/>
          </a:p>
        </p:txBody>
      </p:sp>
      <p:sp>
        <p:nvSpPr>
          <p:cNvPr id="10" name="Shape 8"/>
          <p:cNvSpPr/>
          <p:nvPr/>
        </p:nvSpPr>
        <p:spPr>
          <a:xfrm>
            <a:off x="2200275" y="3867150"/>
            <a:ext cx="4763" cy="571500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11" name="Text 9"/>
          <p:cNvSpPr/>
          <p:nvPr/>
        </p:nvSpPr>
        <p:spPr>
          <a:xfrm>
            <a:off x="2438400" y="3867150"/>
            <a:ext cx="2476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8" dirty="0">
                <a:solidFill>
                  <a:srgbClr val="4D5663"/>
                </a:solidFill>
              </a:rPr>
              <a:t>Department Electronics &amp; Telecommunication Engineering</a:t>
            </a:r>
            <a:endParaRPr lang="en-US" sz="488" dirty="0"/>
          </a:p>
        </p:txBody>
      </p:sp>
      <p:sp>
        <p:nvSpPr>
          <p:cNvPr id="12" name="Shape 10"/>
          <p:cNvSpPr/>
          <p:nvPr/>
        </p:nvSpPr>
        <p:spPr>
          <a:xfrm>
            <a:off x="5067300" y="3867150"/>
            <a:ext cx="4763" cy="571500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13" name="Text 11"/>
          <p:cNvSpPr/>
          <p:nvPr/>
        </p:nvSpPr>
        <p:spPr>
          <a:xfrm>
            <a:off x="5314950" y="3867150"/>
            <a:ext cx="16192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8" dirty="0">
                <a:solidFill>
                  <a:srgbClr val="4D5663"/>
                </a:solidFill>
              </a:rPr>
              <a:t>College [Your College Name]</a:t>
            </a:r>
            <a:endParaRPr lang="en-US" sz="488" dirty="0"/>
          </a:p>
        </p:txBody>
      </p:sp>
      <p:sp>
        <p:nvSpPr>
          <p:cNvPr id="14" name="Shape 12"/>
          <p:cNvSpPr/>
          <p:nvPr/>
        </p:nvSpPr>
        <p:spPr>
          <a:xfrm>
            <a:off x="7086600" y="3867150"/>
            <a:ext cx="4763" cy="571500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15" name="Text 13"/>
          <p:cNvSpPr/>
          <p:nvPr/>
        </p:nvSpPr>
        <p:spPr>
          <a:xfrm>
            <a:off x="7334250" y="3867150"/>
            <a:ext cx="14287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8" dirty="0">
                <a:solidFill>
                  <a:srgbClr val="4D5663"/>
                </a:solidFill>
              </a:rPr>
              <a:t>Academic Year 2026–27</a:t>
            </a:r>
            <a:endParaRPr lang="en-US" sz="488" dirty="0"/>
          </a:p>
        </p:txBody>
      </p:sp>
      <p:sp>
        <p:nvSpPr>
          <p:cNvPr id="16" name="Text 14"/>
          <p:cNvSpPr/>
          <p:nvPr/>
        </p:nvSpPr>
        <p:spPr>
          <a:xfrm>
            <a:off x="8686800" y="4743450"/>
            <a:ext cx="2857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25" dirty="0">
                <a:solidFill>
                  <a:srgbClr val="4D5663"/>
                </a:solidFill>
              </a:rPr>
              <a:t>01</a:t>
            </a:r>
            <a:endParaRPr lang="en-US" sz="525" dirty="0"/>
          </a:p>
        </p:txBody>
      </p:sp>
      <p:sp>
        <p:nvSpPr>
          <p:cNvPr id="17" name="Shape 15"/>
          <p:cNvSpPr/>
          <p:nvPr/>
        </p:nvSpPr>
        <p:spPr>
          <a:xfrm>
            <a:off x="8286750" y="4781550"/>
            <a:ext cx="342900" cy="9525"/>
          </a:xfrm>
          <a:prstGeom prst="rect">
            <a:avLst/>
          </a:prstGeom>
          <a:solidFill>
            <a:srgbClr val="14253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E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57200"/>
            <a:ext cx="81153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5" dirty="0">
                <a:solidFill>
                  <a:srgbClr val="4D5663"/>
                </a:solidFill>
              </a:rPr>
              <a:t>12 — Scope</a:t>
            </a:r>
            <a:endParaRPr lang="en-US" sz="525" dirty="0"/>
          </a:p>
        </p:txBody>
      </p:sp>
      <p:sp>
        <p:nvSpPr>
          <p:cNvPr id="3" name="Shape 1"/>
          <p:cNvSpPr/>
          <p:nvPr/>
        </p:nvSpPr>
        <p:spPr>
          <a:xfrm>
            <a:off x="571500" y="619125"/>
            <a:ext cx="266700" cy="14288"/>
          </a:xfrm>
          <a:prstGeom prst="rect">
            <a:avLst/>
          </a:prstGeom>
          <a:solidFill>
            <a:srgbClr val="F2C300"/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752475"/>
            <a:ext cx="7048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4253F"/>
                </a:solidFill>
              </a:rPr>
              <a:t>Status &amp; Future Scope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71500" y="1247775"/>
            <a:ext cx="7048500" cy="6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D5663"/>
                </a:solidFill>
              </a:rPr>
              <a:t>Where the prototype stands today, and where it could go once the mini-project is complete.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71500" y="1619250"/>
            <a:ext cx="81153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5" dirty="0">
                <a:solidFill>
                  <a:srgbClr val="14253F"/>
                </a:solidFill>
              </a:rPr>
              <a:t>Prototype Status</a:t>
            </a:r>
            <a:endParaRPr lang="en-US" sz="525" dirty="0"/>
          </a:p>
        </p:txBody>
      </p:sp>
      <p:sp>
        <p:nvSpPr>
          <p:cNvPr id="7" name="Shape 5"/>
          <p:cNvSpPr/>
          <p:nvPr/>
        </p:nvSpPr>
        <p:spPr>
          <a:xfrm>
            <a:off x="571500" y="1781175"/>
            <a:ext cx="304800" cy="14288"/>
          </a:xfrm>
          <a:prstGeom prst="rect">
            <a:avLst/>
          </a:prstGeom>
          <a:solidFill>
            <a:srgbClr val="F2C300"/>
          </a:solidFill>
          <a:ln/>
        </p:spPr>
      </p:sp>
      <p:sp>
        <p:nvSpPr>
          <p:cNvPr id="8" name="Shape 6"/>
          <p:cNvSpPr/>
          <p:nvPr/>
        </p:nvSpPr>
        <p:spPr>
          <a:xfrm>
            <a:off x="571500" y="1914525"/>
            <a:ext cx="3905250" cy="2571750"/>
          </a:xfrm>
          <a:prstGeom prst="rect">
            <a:avLst/>
          </a:prstGeom>
          <a:solidFill>
            <a:srgbClr val="F4F0E2"/>
          </a:solidFill>
          <a:ln/>
        </p:spPr>
      </p:sp>
      <p:sp>
        <p:nvSpPr>
          <p:cNvPr id="9" name="Shape 7"/>
          <p:cNvSpPr/>
          <p:nvPr/>
        </p:nvSpPr>
        <p:spPr>
          <a:xfrm>
            <a:off x="762000" y="2076450"/>
            <a:ext cx="3524250" cy="4763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2047875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8" dirty="0">
                <a:solidFill>
                  <a:srgbClr val="4D5663"/>
                </a:solidFill>
              </a:rPr>
              <a:t>01</a:t>
            </a:r>
            <a:endParaRPr lang="en-US" sz="488" dirty="0"/>
          </a:p>
        </p:txBody>
      </p:sp>
      <p:sp>
        <p:nvSpPr>
          <p:cNvPr id="11" name="Text 9"/>
          <p:cNvSpPr/>
          <p:nvPr/>
        </p:nvSpPr>
        <p:spPr>
          <a:xfrm>
            <a:off x="1143000" y="2057400"/>
            <a:ext cx="18097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14253F"/>
                </a:solidFill>
              </a:rPr>
              <a:t>System architecture &amp; data flow defined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238500" y="2085975"/>
            <a:ext cx="76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" dirty="0">
                <a:solidFill>
                  <a:srgbClr val="117373"/>
                </a:solidFill>
              </a:rPr>
              <a:t>defined</a:t>
            </a:r>
            <a:endParaRPr lang="en-US" sz="450" dirty="0"/>
          </a:p>
        </p:txBody>
      </p:sp>
      <p:sp>
        <p:nvSpPr>
          <p:cNvPr id="13" name="Shape 11"/>
          <p:cNvSpPr/>
          <p:nvPr/>
        </p:nvSpPr>
        <p:spPr>
          <a:xfrm>
            <a:off x="762000" y="2381250"/>
            <a:ext cx="3524250" cy="4763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2447925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8" dirty="0">
                <a:solidFill>
                  <a:srgbClr val="4D5663"/>
                </a:solidFill>
              </a:rPr>
              <a:t>02</a:t>
            </a:r>
            <a:endParaRPr lang="en-US" sz="488" dirty="0"/>
          </a:p>
        </p:txBody>
      </p:sp>
      <p:sp>
        <p:nvSpPr>
          <p:cNvPr id="15" name="Text 13"/>
          <p:cNvSpPr/>
          <p:nvPr/>
        </p:nvSpPr>
        <p:spPr>
          <a:xfrm>
            <a:off x="1143000" y="2457450"/>
            <a:ext cx="18097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14253F"/>
                </a:solidFill>
              </a:rPr>
              <a:t>Hardware prototype assembly</a:t>
            </a:r>
            <a:endParaRPr lang="en-US" sz="825" dirty="0"/>
          </a:p>
        </p:txBody>
      </p:sp>
      <p:sp>
        <p:nvSpPr>
          <p:cNvPr id="16" name="Shape 14"/>
          <p:cNvSpPr/>
          <p:nvPr/>
        </p:nvSpPr>
        <p:spPr>
          <a:xfrm>
            <a:off x="3238500" y="2447925"/>
            <a:ext cx="952500" cy="171450"/>
          </a:xfrm>
          <a:prstGeom prst="rect">
            <a:avLst/>
          </a:prstGeom>
          <a:solidFill>
            <a:srgbClr val="F2C300"/>
          </a:solidFill>
          <a:ln/>
        </p:spPr>
      </p:sp>
      <p:sp>
        <p:nvSpPr>
          <p:cNvPr id="17" name="Text 15"/>
          <p:cNvSpPr/>
          <p:nvPr/>
        </p:nvSpPr>
        <p:spPr>
          <a:xfrm>
            <a:off x="3238500" y="2486025"/>
            <a:ext cx="952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" dirty="0">
                <a:solidFill>
                  <a:srgbClr val="14253F"/>
                </a:solidFill>
              </a:rPr>
              <a:t>in development</a:t>
            </a:r>
            <a:endParaRPr lang="en-US" sz="450" dirty="0"/>
          </a:p>
        </p:txBody>
      </p:sp>
      <p:sp>
        <p:nvSpPr>
          <p:cNvPr id="18" name="Shape 16"/>
          <p:cNvSpPr/>
          <p:nvPr/>
        </p:nvSpPr>
        <p:spPr>
          <a:xfrm>
            <a:off x="762000" y="2781300"/>
            <a:ext cx="3524250" cy="4763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19" name="Text 17"/>
          <p:cNvSpPr/>
          <p:nvPr/>
        </p:nvSpPr>
        <p:spPr>
          <a:xfrm>
            <a:off x="762000" y="2857500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8" dirty="0">
                <a:solidFill>
                  <a:srgbClr val="4D5663"/>
                </a:solidFill>
              </a:rPr>
              <a:t>03</a:t>
            </a:r>
            <a:endParaRPr lang="en-US" sz="488" dirty="0"/>
          </a:p>
        </p:txBody>
      </p:sp>
      <p:sp>
        <p:nvSpPr>
          <p:cNvPr id="20" name="Text 18"/>
          <p:cNvSpPr/>
          <p:nvPr/>
        </p:nvSpPr>
        <p:spPr>
          <a:xfrm>
            <a:off x="1143000" y="2867025"/>
            <a:ext cx="18097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14253F"/>
                </a:solidFill>
              </a:rPr>
              <a:t>IR sensor detection firmware</a:t>
            </a:r>
            <a:endParaRPr lang="en-US" sz="825" dirty="0"/>
          </a:p>
        </p:txBody>
      </p:sp>
      <p:sp>
        <p:nvSpPr>
          <p:cNvPr id="21" name="Shape 19"/>
          <p:cNvSpPr/>
          <p:nvPr/>
        </p:nvSpPr>
        <p:spPr>
          <a:xfrm>
            <a:off x="3238500" y="2857500"/>
            <a:ext cx="952500" cy="171450"/>
          </a:xfrm>
          <a:prstGeom prst="rect">
            <a:avLst/>
          </a:prstGeom>
          <a:solidFill>
            <a:srgbClr val="F2C300"/>
          </a:solidFill>
          <a:ln/>
        </p:spPr>
      </p:sp>
      <p:sp>
        <p:nvSpPr>
          <p:cNvPr id="22" name="Text 20"/>
          <p:cNvSpPr/>
          <p:nvPr/>
        </p:nvSpPr>
        <p:spPr>
          <a:xfrm>
            <a:off x="3238500" y="2895600"/>
            <a:ext cx="952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" dirty="0">
                <a:solidFill>
                  <a:srgbClr val="14253F"/>
                </a:solidFill>
              </a:rPr>
              <a:t>in development</a:t>
            </a:r>
            <a:endParaRPr lang="en-US" sz="450" dirty="0"/>
          </a:p>
        </p:txBody>
      </p:sp>
      <p:sp>
        <p:nvSpPr>
          <p:cNvPr id="23" name="Shape 21"/>
          <p:cNvSpPr/>
          <p:nvPr/>
        </p:nvSpPr>
        <p:spPr>
          <a:xfrm>
            <a:off x="762000" y="3181350"/>
            <a:ext cx="3524250" cy="4763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24" name="Text 22"/>
          <p:cNvSpPr/>
          <p:nvPr/>
        </p:nvSpPr>
        <p:spPr>
          <a:xfrm>
            <a:off x="762000" y="3267075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8" dirty="0">
                <a:solidFill>
                  <a:srgbClr val="4D5663"/>
                </a:solidFill>
              </a:rPr>
              <a:t>04</a:t>
            </a:r>
            <a:endParaRPr lang="en-US" sz="488" dirty="0"/>
          </a:p>
        </p:txBody>
      </p:sp>
      <p:sp>
        <p:nvSpPr>
          <p:cNvPr id="25" name="Text 23"/>
          <p:cNvSpPr/>
          <p:nvPr/>
        </p:nvSpPr>
        <p:spPr>
          <a:xfrm>
            <a:off x="1143000" y="3276600"/>
            <a:ext cx="18097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14253F"/>
                </a:solidFill>
              </a:rPr>
              <a:t>ESP32 ↔ backend message loop</a:t>
            </a:r>
            <a:endParaRPr lang="en-US" sz="825" dirty="0"/>
          </a:p>
        </p:txBody>
      </p:sp>
      <p:sp>
        <p:nvSpPr>
          <p:cNvPr id="26" name="Shape 24"/>
          <p:cNvSpPr/>
          <p:nvPr/>
        </p:nvSpPr>
        <p:spPr>
          <a:xfrm>
            <a:off x="3238500" y="3267075"/>
            <a:ext cx="762000" cy="171450"/>
          </a:xfrm>
          <a:prstGeom prst="rect">
            <a:avLst/>
          </a:prstGeom>
          <a:solidFill>
            <a:srgbClr val="FAF7EB"/>
          </a:solidFill>
          <a:ln/>
        </p:spPr>
      </p:sp>
      <p:sp>
        <p:nvSpPr>
          <p:cNvPr id="27" name="Text 25"/>
          <p:cNvSpPr/>
          <p:nvPr/>
        </p:nvSpPr>
        <p:spPr>
          <a:xfrm>
            <a:off x="3238500" y="3305175"/>
            <a:ext cx="76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" dirty="0">
                <a:solidFill>
                  <a:srgbClr val="14253F"/>
                </a:solidFill>
              </a:rPr>
              <a:t>to validate</a:t>
            </a:r>
            <a:endParaRPr lang="en-US" sz="450" dirty="0"/>
          </a:p>
        </p:txBody>
      </p:sp>
      <p:sp>
        <p:nvSpPr>
          <p:cNvPr id="28" name="Shape 26"/>
          <p:cNvSpPr/>
          <p:nvPr/>
        </p:nvSpPr>
        <p:spPr>
          <a:xfrm>
            <a:off x="762000" y="3581400"/>
            <a:ext cx="3524250" cy="4763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29" name="Text 27"/>
          <p:cNvSpPr/>
          <p:nvPr/>
        </p:nvSpPr>
        <p:spPr>
          <a:xfrm>
            <a:off x="762000" y="3676650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8" dirty="0">
                <a:solidFill>
                  <a:srgbClr val="4D5663"/>
                </a:solidFill>
              </a:rPr>
              <a:t>05</a:t>
            </a:r>
            <a:endParaRPr lang="en-US" sz="488" dirty="0"/>
          </a:p>
        </p:txBody>
      </p:sp>
      <p:sp>
        <p:nvSpPr>
          <p:cNvPr id="30" name="Text 28"/>
          <p:cNvSpPr/>
          <p:nvPr/>
        </p:nvSpPr>
        <p:spPr>
          <a:xfrm>
            <a:off x="1143000" y="3686175"/>
            <a:ext cx="18097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14253F"/>
                </a:solidFill>
              </a:rPr>
              <a:t>Operator dashboard UI</a:t>
            </a:r>
            <a:endParaRPr lang="en-US" sz="825" dirty="0"/>
          </a:p>
        </p:txBody>
      </p:sp>
      <p:sp>
        <p:nvSpPr>
          <p:cNvPr id="31" name="Shape 29"/>
          <p:cNvSpPr/>
          <p:nvPr/>
        </p:nvSpPr>
        <p:spPr>
          <a:xfrm>
            <a:off x="3238500" y="3676650"/>
            <a:ext cx="952500" cy="171450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32" name="Text 30"/>
          <p:cNvSpPr/>
          <p:nvPr/>
        </p:nvSpPr>
        <p:spPr>
          <a:xfrm>
            <a:off x="3238500" y="3714750"/>
            <a:ext cx="952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" dirty="0">
                <a:solidFill>
                  <a:srgbClr val="ECE7D8"/>
                </a:solidFill>
              </a:rPr>
              <a:t>prototype mock</a:t>
            </a:r>
            <a:endParaRPr lang="en-US" sz="450" dirty="0"/>
          </a:p>
        </p:txBody>
      </p:sp>
      <p:sp>
        <p:nvSpPr>
          <p:cNvPr id="33" name="Shape 31"/>
          <p:cNvSpPr/>
          <p:nvPr/>
        </p:nvSpPr>
        <p:spPr>
          <a:xfrm>
            <a:off x="762000" y="3981450"/>
            <a:ext cx="3524250" cy="4763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34" name="Text 32"/>
          <p:cNvSpPr/>
          <p:nvPr/>
        </p:nvSpPr>
        <p:spPr>
          <a:xfrm>
            <a:off x="762000" y="4086225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8" dirty="0">
                <a:solidFill>
                  <a:srgbClr val="4D5663"/>
                </a:solidFill>
              </a:rPr>
              <a:t>06</a:t>
            </a:r>
            <a:endParaRPr lang="en-US" sz="488" dirty="0"/>
          </a:p>
        </p:txBody>
      </p:sp>
      <p:sp>
        <p:nvSpPr>
          <p:cNvPr id="35" name="Text 33"/>
          <p:cNvSpPr/>
          <p:nvPr/>
        </p:nvSpPr>
        <p:spPr>
          <a:xfrm>
            <a:off x="1143000" y="4095750"/>
            <a:ext cx="18097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14253F"/>
                </a:solidFill>
              </a:rPr>
              <a:t>Deployment environment</a:t>
            </a:r>
            <a:endParaRPr lang="en-US" sz="825" dirty="0"/>
          </a:p>
        </p:txBody>
      </p:sp>
      <p:sp>
        <p:nvSpPr>
          <p:cNvPr id="36" name="Shape 34"/>
          <p:cNvSpPr/>
          <p:nvPr/>
        </p:nvSpPr>
        <p:spPr>
          <a:xfrm>
            <a:off x="3238500" y="4086225"/>
            <a:ext cx="762000" cy="171450"/>
          </a:xfrm>
          <a:prstGeom prst="rect">
            <a:avLst/>
          </a:prstGeom>
          <a:solidFill>
            <a:srgbClr val="FAF7EB"/>
          </a:solidFill>
          <a:ln/>
        </p:spPr>
      </p:sp>
      <p:sp>
        <p:nvSpPr>
          <p:cNvPr id="37" name="Text 35"/>
          <p:cNvSpPr/>
          <p:nvPr/>
        </p:nvSpPr>
        <p:spPr>
          <a:xfrm>
            <a:off x="3238500" y="4124325"/>
            <a:ext cx="76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" dirty="0">
                <a:solidFill>
                  <a:srgbClr val="14253F"/>
                </a:solidFill>
              </a:rPr>
              <a:t>local network</a:t>
            </a:r>
            <a:endParaRPr lang="en-US" sz="450" dirty="0"/>
          </a:p>
        </p:txBody>
      </p:sp>
      <p:sp>
        <p:nvSpPr>
          <p:cNvPr id="38" name="Text 36"/>
          <p:cNvSpPr/>
          <p:nvPr/>
        </p:nvSpPr>
        <p:spPr>
          <a:xfrm>
            <a:off x="4667250" y="1619250"/>
            <a:ext cx="40195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5" dirty="0">
                <a:solidFill>
                  <a:srgbClr val="14253F"/>
                </a:solidFill>
              </a:rPr>
              <a:t>Future Scope</a:t>
            </a:r>
            <a:endParaRPr lang="en-US" sz="525" dirty="0"/>
          </a:p>
        </p:txBody>
      </p:sp>
      <p:sp>
        <p:nvSpPr>
          <p:cNvPr id="39" name="Shape 37"/>
          <p:cNvSpPr/>
          <p:nvPr/>
        </p:nvSpPr>
        <p:spPr>
          <a:xfrm>
            <a:off x="4667250" y="1781175"/>
            <a:ext cx="304800" cy="14288"/>
          </a:xfrm>
          <a:prstGeom prst="rect">
            <a:avLst/>
          </a:prstGeom>
          <a:solidFill>
            <a:srgbClr val="F2C300"/>
          </a:solidFill>
          <a:ln/>
        </p:spPr>
      </p:sp>
      <p:sp>
        <p:nvSpPr>
          <p:cNvPr id="40" name="Shape 38"/>
          <p:cNvSpPr/>
          <p:nvPr/>
        </p:nvSpPr>
        <p:spPr>
          <a:xfrm>
            <a:off x="4667250" y="1914525"/>
            <a:ext cx="3905250" cy="2571750"/>
          </a:xfrm>
          <a:prstGeom prst="rect">
            <a:avLst/>
          </a:prstGeom>
          <a:solidFill>
            <a:srgbClr val="F4F0E2"/>
          </a:solidFill>
          <a:ln/>
        </p:spPr>
      </p:sp>
      <p:sp>
        <p:nvSpPr>
          <p:cNvPr id="41" name="Text 39"/>
          <p:cNvSpPr/>
          <p:nvPr/>
        </p:nvSpPr>
        <p:spPr>
          <a:xfrm>
            <a:off x="4857750" y="2047875"/>
            <a:ext cx="38290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F"/>
                </a:solidFill>
              </a:rPr>
              <a:t>Proposed Enhancements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857750" y="2266950"/>
            <a:ext cx="35242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4D5663"/>
                </a:solidFill>
              </a:rPr>
              <a:t>Items below are intentionally kept out of the current mini-project — to be picked up after delivery.</a:t>
            </a:r>
            <a:endParaRPr lang="en-US" sz="675" dirty="0"/>
          </a:p>
        </p:txBody>
      </p:sp>
      <p:sp>
        <p:nvSpPr>
          <p:cNvPr id="43" name="Shape 41"/>
          <p:cNvSpPr/>
          <p:nvPr/>
        </p:nvSpPr>
        <p:spPr>
          <a:xfrm>
            <a:off x="4857750" y="2609850"/>
            <a:ext cx="3524250" cy="4763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44" name="Shape 42"/>
          <p:cNvSpPr/>
          <p:nvPr/>
        </p:nvSpPr>
        <p:spPr>
          <a:xfrm>
            <a:off x="4857750" y="2743200"/>
            <a:ext cx="66675" cy="66675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45" name="Text 43"/>
          <p:cNvSpPr/>
          <p:nvPr/>
        </p:nvSpPr>
        <p:spPr>
          <a:xfrm>
            <a:off x="4991100" y="2714625"/>
            <a:ext cx="16192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4253F"/>
                </a:solidFill>
              </a:rPr>
              <a:t>ANPR for automated entry / exit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857750" y="3038475"/>
            <a:ext cx="66675" cy="66675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47" name="Text 45"/>
          <p:cNvSpPr/>
          <p:nvPr/>
        </p:nvSpPr>
        <p:spPr>
          <a:xfrm>
            <a:off x="4991100" y="3009900"/>
            <a:ext cx="16192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4253F"/>
                </a:solidFill>
              </a:rPr>
              <a:t>Dedicated driver mobile application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857750" y="3333750"/>
            <a:ext cx="66675" cy="66675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49" name="Text 47"/>
          <p:cNvSpPr/>
          <p:nvPr/>
        </p:nvSpPr>
        <p:spPr>
          <a:xfrm>
            <a:off x="4991100" y="3305175"/>
            <a:ext cx="16192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4253F"/>
                </a:solidFill>
              </a:rPr>
              <a:t>AI-based occupancy prediction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857750" y="3629025"/>
            <a:ext cx="66675" cy="66675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51" name="Text 49"/>
          <p:cNvSpPr/>
          <p:nvPr/>
        </p:nvSpPr>
        <p:spPr>
          <a:xfrm>
            <a:off x="4991100" y="3600450"/>
            <a:ext cx="16192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4253F"/>
                </a:solidFill>
              </a:rPr>
              <a:t>Digital payment &amp; slot reservation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857750" y="3924300"/>
            <a:ext cx="66675" cy="66675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53" name="Text 51"/>
          <p:cNvSpPr/>
          <p:nvPr/>
        </p:nvSpPr>
        <p:spPr>
          <a:xfrm>
            <a:off x="4991100" y="3895725"/>
            <a:ext cx="16192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4253F"/>
                </a:solidFill>
              </a:rPr>
              <a:t>EV charging-slot integration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858000" y="2743200"/>
            <a:ext cx="152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" dirty="0">
                <a:solidFill>
                  <a:srgbClr val="4D5663"/>
                </a:solidFill>
              </a:rPr>
              <a:t>Driver guidance 2.0 A consumer-facing mobile layer that takes over guidance from the on-site operator.</a:t>
            </a:r>
            <a:endParaRPr lang="en-US" sz="450" dirty="0"/>
          </a:p>
        </p:txBody>
      </p:sp>
      <p:sp>
        <p:nvSpPr>
          <p:cNvPr id="55" name="Shape 53"/>
          <p:cNvSpPr/>
          <p:nvPr/>
        </p:nvSpPr>
        <p:spPr>
          <a:xfrm>
            <a:off x="6858000" y="3333750"/>
            <a:ext cx="1524000" cy="4763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56" name="Text 54"/>
          <p:cNvSpPr/>
          <p:nvPr/>
        </p:nvSpPr>
        <p:spPr>
          <a:xfrm>
            <a:off x="6858000" y="3467100"/>
            <a:ext cx="152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" dirty="0">
                <a:solidFill>
                  <a:srgbClr val="4D5663"/>
                </a:solidFill>
              </a:rPr>
              <a:t>Data telemetry Long-term analytics feeds for facility planning &amp; demand shaping.</a:t>
            </a:r>
            <a:endParaRPr lang="en-US" sz="450" dirty="0"/>
          </a:p>
        </p:txBody>
      </p:sp>
      <p:sp>
        <p:nvSpPr>
          <p:cNvPr id="57" name="Shape 55"/>
          <p:cNvSpPr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58" name="Shape 56"/>
          <p:cNvSpPr/>
          <p:nvPr/>
        </p:nvSpPr>
        <p:spPr>
          <a:xfrm>
            <a:off x="571500" y="4667250"/>
            <a:ext cx="28575" cy="285750"/>
          </a:xfrm>
          <a:prstGeom prst="rect">
            <a:avLst/>
          </a:prstGeom>
          <a:solidFill>
            <a:srgbClr val="F2C300"/>
          </a:solidFill>
          <a:ln/>
        </p:spPr>
      </p:sp>
      <p:sp>
        <p:nvSpPr>
          <p:cNvPr id="59" name="Text 57"/>
          <p:cNvSpPr/>
          <p:nvPr/>
        </p:nvSpPr>
        <p:spPr>
          <a:xfrm>
            <a:off x="762000" y="4748213"/>
            <a:ext cx="7620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ECE7D8"/>
                </a:solidFill>
              </a:rPr>
              <a:t>PARKORA — a scalable, IoT-driven approach to intelligent parking management.</a:t>
            </a:r>
            <a:endParaRPr lang="en-US" sz="825" dirty="0"/>
          </a:p>
        </p:txBody>
      </p:sp>
      <p:sp>
        <p:nvSpPr>
          <p:cNvPr id="60" name="Text 58"/>
          <p:cNvSpPr/>
          <p:nvPr/>
        </p:nvSpPr>
        <p:spPr>
          <a:xfrm>
            <a:off x="8667750" y="4848225"/>
            <a:ext cx="2857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25" dirty="0">
                <a:solidFill>
                  <a:srgbClr val="B0B7BE"/>
                </a:solidFill>
              </a:rPr>
              <a:t>12</a:t>
            </a:r>
            <a:endParaRPr lang="en-US" sz="5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E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57200"/>
            <a:ext cx="81153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5" dirty="0">
                <a:solidFill>
                  <a:srgbClr val="4D5663"/>
                </a:solidFill>
              </a:rPr>
              <a:t>07 — Architecture</a:t>
            </a:r>
            <a:endParaRPr lang="en-US" sz="525" dirty="0"/>
          </a:p>
        </p:txBody>
      </p:sp>
      <p:sp>
        <p:nvSpPr>
          <p:cNvPr id="3" name="Shape 1"/>
          <p:cNvSpPr/>
          <p:nvPr/>
        </p:nvSpPr>
        <p:spPr>
          <a:xfrm>
            <a:off x="571500" y="619125"/>
            <a:ext cx="266700" cy="14288"/>
          </a:xfrm>
          <a:prstGeom prst="rect">
            <a:avLst/>
          </a:prstGeom>
          <a:solidFill>
            <a:srgbClr val="F2C300"/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752475"/>
            <a:ext cx="7048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dirty="0">
                <a:solidFill>
                  <a:srgbClr val="14253F"/>
                </a:solidFill>
              </a:rPr>
              <a:t>System Architecture &amp; Data Flow</a:t>
            </a:r>
            <a:endParaRPr lang="en-US" sz="2775" dirty="0"/>
          </a:p>
        </p:txBody>
      </p:sp>
      <p:sp>
        <p:nvSpPr>
          <p:cNvPr id="5" name="Text 3"/>
          <p:cNvSpPr/>
          <p:nvPr/>
        </p:nvSpPr>
        <p:spPr>
          <a:xfrm>
            <a:off x="571500" y="1181100"/>
            <a:ext cx="7048500" cy="6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D5663"/>
                </a:solidFill>
              </a:rPr>
              <a:t>Vertical signal path from physical slot to operator — every block reports to the next, every arrow points one way.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81000" y="1524000"/>
            <a:ext cx="5905500" cy="3238500"/>
          </a:xfrm>
          <a:prstGeom prst="rect">
            <a:avLst/>
          </a:prstGeom>
          <a:solidFill>
            <a:srgbClr val="FAF7EB"/>
          </a:solidFill>
          <a:ln/>
        </p:spPr>
      </p:sp>
      <p:sp>
        <p:nvSpPr>
          <p:cNvPr id="7" name="Shape 5"/>
          <p:cNvSpPr/>
          <p:nvPr/>
        </p:nvSpPr>
        <p:spPr>
          <a:xfrm>
            <a:off x="2095500" y="1714500"/>
            <a:ext cx="2476500" cy="400050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8" name="Shape 6"/>
          <p:cNvSpPr/>
          <p:nvPr/>
        </p:nvSpPr>
        <p:spPr>
          <a:xfrm>
            <a:off x="2095500" y="1714500"/>
            <a:ext cx="38100" cy="400050"/>
          </a:xfrm>
          <a:prstGeom prst="rect">
            <a:avLst/>
          </a:prstGeom>
          <a:solidFill>
            <a:srgbClr val="F2C300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0" y="180975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CE7D8"/>
                </a:solidFill>
              </a:rPr>
              <a:t>Parking Slots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0" y="198120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8" dirty="0">
                <a:solidFill>
                  <a:srgbClr val="F2C300"/>
                </a:solidFill>
              </a:rPr>
              <a:t>IR sensor · each slot</a:t>
            </a:r>
            <a:endParaRPr lang="en-US" sz="488" dirty="0"/>
          </a:p>
        </p:txBody>
      </p:sp>
      <p:sp>
        <p:nvSpPr>
          <p:cNvPr id="11" name="Shape 9"/>
          <p:cNvSpPr/>
          <p:nvPr/>
        </p:nvSpPr>
        <p:spPr>
          <a:xfrm>
            <a:off x="2095500" y="2457450"/>
            <a:ext cx="2476500" cy="400050"/>
          </a:xfrm>
          <a:prstGeom prst="rect">
            <a:avLst/>
          </a:prstGeom>
          <a:solidFill>
            <a:srgbClr val="F4F0E2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0" y="255270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4253F"/>
                </a:solidFill>
              </a:rPr>
              <a:t>ESP32 Node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0" y="272415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8" dirty="0">
                <a:solidFill>
                  <a:srgbClr val="4D5663"/>
                </a:solidFill>
              </a:rPr>
              <a:t>MCU · firmware · Wi-Fi</a:t>
            </a:r>
            <a:endParaRPr lang="en-US" sz="488" dirty="0"/>
          </a:p>
        </p:txBody>
      </p:sp>
      <p:sp>
        <p:nvSpPr>
          <p:cNvPr id="14" name="Shape 12"/>
          <p:cNvSpPr/>
          <p:nvPr/>
        </p:nvSpPr>
        <p:spPr>
          <a:xfrm>
            <a:off x="3390900" y="2876550"/>
            <a:ext cx="762000" cy="142875"/>
          </a:xfrm>
          <a:prstGeom prst="rect">
            <a:avLst/>
          </a:prstGeom>
          <a:solidFill>
            <a:srgbClr val="FAF7EB"/>
          </a:solidFill>
          <a:ln/>
        </p:spPr>
      </p:sp>
      <p:sp>
        <p:nvSpPr>
          <p:cNvPr id="15" name="Text 13"/>
          <p:cNvSpPr/>
          <p:nvPr/>
        </p:nvSpPr>
        <p:spPr>
          <a:xfrm>
            <a:off x="3390900" y="2876550"/>
            <a:ext cx="76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" dirty="0">
                <a:solidFill>
                  <a:srgbClr val="14253F"/>
                </a:solidFill>
              </a:rPr>
              <a:t>Wi-Fi · MQTT</a:t>
            </a:r>
            <a:endParaRPr lang="en-US" sz="450" dirty="0"/>
          </a:p>
        </p:txBody>
      </p:sp>
      <p:sp>
        <p:nvSpPr>
          <p:cNvPr id="16" name="Shape 14"/>
          <p:cNvSpPr/>
          <p:nvPr/>
        </p:nvSpPr>
        <p:spPr>
          <a:xfrm>
            <a:off x="2095500" y="3352800"/>
            <a:ext cx="2476500" cy="400050"/>
          </a:xfrm>
          <a:prstGeom prst="rect">
            <a:avLst/>
          </a:prstGeom>
          <a:solidFill>
            <a:srgbClr val="F2C300"/>
          </a:solidFill>
          <a:ln/>
        </p:spPr>
      </p:sp>
      <p:sp>
        <p:nvSpPr>
          <p:cNvPr id="17" name="Text 15"/>
          <p:cNvSpPr/>
          <p:nvPr/>
        </p:nvSpPr>
        <p:spPr>
          <a:xfrm>
            <a:off x="2286000" y="344805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4253F"/>
                </a:solidFill>
              </a:rPr>
              <a:t>Backend / API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86000" y="361950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8" dirty="0">
                <a:solidFill>
                  <a:srgbClr val="14253F"/>
                </a:solidFill>
              </a:rPr>
              <a:t>Node.js · REST · MQTT broker</a:t>
            </a:r>
            <a:endParaRPr lang="en-US" sz="488" dirty="0"/>
          </a:p>
        </p:txBody>
      </p:sp>
      <p:sp>
        <p:nvSpPr>
          <p:cNvPr id="19" name="Shape 17"/>
          <p:cNvSpPr/>
          <p:nvPr/>
        </p:nvSpPr>
        <p:spPr>
          <a:xfrm>
            <a:off x="2095500" y="4038600"/>
            <a:ext cx="2476500" cy="381000"/>
          </a:xfrm>
          <a:prstGeom prst="rect">
            <a:avLst/>
          </a:prstGeom>
          <a:solidFill>
            <a:srgbClr val="F4F0E2"/>
          </a:solidFill>
          <a:ln/>
        </p:spPr>
      </p:sp>
      <p:sp>
        <p:nvSpPr>
          <p:cNvPr id="20" name="Text 18"/>
          <p:cNvSpPr/>
          <p:nvPr/>
        </p:nvSpPr>
        <p:spPr>
          <a:xfrm>
            <a:off x="2286000" y="4124325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4253F"/>
                </a:solidFill>
              </a:rPr>
              <a:t>Database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286000" y="4295775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8" dirty="0">
                <a:solidFill>
                  <a:srgbClr val="4D5663"/>
                </a:solidFill>
              </a:rPr>
              <a:t>PostgreSQL · slot events</a:t>
            </a:r>
            <a:endParaRPr lang="en-US" sz="488" dirty="0"/>
          </a:p>
        </p:txBody>
      </p:sp>
      <p:sp>
        <p:nvSpPr>
          <p:cNvPr id="22" name="Shape 20"/>
          <p:cNvSpPr/>
          <p:nvPr/>
        </p:nvSpPr>
        <p:spPr>
          <a:xfrm>
            <a:off x="571500" y="4648200"/>
            <a:ext cx="1333500" cy="304800"/>
          </a:xfrm>
          <a:prstGeom prst="rect">
            <a:avLst/>
          </a:prstGeom>
          <a:solidFill>
            <a:srgbClr val="117373"/>
          </a:solidFill>
          <a:ln/>
        </p:spPr>
      </p:sp>
      <p:sp>
        <p:nvSpPr>
          <p:cNvPr id="23" name="Text 21"/>
          <p:cNvSpPr/>
          <p:nvPr/>
        </p:nvSpPr>
        <p:spPr>
          <a:xfrm>
            <a:off x="571500" y="4743450"/>
            <a:ext cx="1333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dirty="0">
                <a:solidFill>
                  <a:srgbClr val="ECE7D8"/>
                </a:solidFill>
              </a:rPr>
              <a:t>Security Dashboard</a:t>
            </a:r>
            <a:endParaRPr lang="en-US" sz="675" dirty="0"/>
          </a:p>
        </p:txBody>
      </p:sp>
      <p:sp>
        <p:nvSpPr>
          <p:cNvPr id="24" name="Shape 22"/>
          <p:cNvSpPr/>
          <p:nvPr/>
        </p:nvSpPr>
        <p:spPr>
          <a:xfrm>
            <a:off x="4762500" y="4648200"/>
            <a:ext cx="1333500" cy="304800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25" name="Shape 23"/>
          <p:cNvSpPr/>
          <p:nvPr/>
        </p:nvSpPr>
        <p:spPr>
          <a:xfrm>
            <a:off x="4762500" y="4648200"/>
            <a:ext cx="28575" cy="304800"/>
          </a:xfrm>
          <a:prstGeom prst="rect">
            <a:avLst/>
          </a:prstGeom>
          <a:solidFill>
            <a:srgbClr val="F2C300"/>
          </a:solidFill>
          <a:ln/>
        </p:spPr>
      </p:sp>
      <p:sp>
        <p:nvSpPr>
          <p:cNvPr id="26" name="Text 24"/>
          <p:cNvSpPr/>
          <p:nvPr/>
        </p:nvSpPr>
        <p:spPr>
          <a:xfrm>
            <a:off x="4762500" y="4743450"/>
            <a:ext cx="1333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dirty="0">
                <a:solidFill>
                  <a:srgbClr val="ECE7D8"/>
                </a:solidFill>
              </a:rPr>
              <a:t>Admin Dashboard</a:t>
            </a:r>
            <a:endParaRPr lang="en-US" sz="675" dirty="0"/>
          </a:p>
        </p:txBody>
      </p:sp>
      <p:sp>
        <p:nvSpPr>
          <p:cNvPr id="27" name="Shape 25"/>
          <p:cNvSpPr/>
          <p:nvPr/>
        </p:nvSpPr>
        <p:spPr>
          <a:xfrm>
            <a:off x="6572250" y="1524000"/>
            <a:ext cx="2190750" cy="3238500"/>
          </a:xfrm>
          <a:prstGeom prst="rect">
            <a:avLst/>
          </a:prstGeom>
          <a:solidFill>
            <a:srgbClr val="F4F0E2"/>
          </a:solidFill>
          <a:ln/>
        </p:spPr>
      </p:sp>
      <p:sp>
        <p:nvSpPr>
          <p:cNvPr id="28" name="Text 26"/>
          <p:cNvSpPr/>
          <p:nvPr/>
        </p:nvSpPr>
        <p:spPr>
          <a:xfrm>
            <a:off x="6724650" y="1657350"/>
            <a:ext cx="19621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8" dirty="0">
                <a:solidFill>
                  <a:srgbClr val="4D5663"/>
                </a:solidFill>
              </a:rPr>
              <a:t>Legend</a:t>
            </a:r>
            <a:endParaRPr lang="en-US" sz="488" dirty="0"/>
          </a:p>
        </p:txBody>
      </p:sp>
      <p:sp>
        <p:nvSpPr>
          <p:cNvPr id="29" name="Shape 27"/>
          <p:cNvSpPr/>
          <p:nvPr/>
        </p:nvSpPr>
        <p:spPr>
          <a:xfrm>
            <a:off x="6724650" y="1819275"/>
            <a:ext cx="228600" cy="14288"/>
          </a:xfrm>
          <a:prstGeom prst="rect">
            <a:avLst/>
          </a:prstGeom>
          <a:solidFill>
            <a:srgbClr val="F2C300"/>
          </a:solidFill>
          <a:ln/>
        </p:spPr>
      </p:sp>
      <p:sp>
        <p:nvSpPr>
          <p:cNvPr id="30" name="Shape 28"/>
          <p:cNvSpPr/>
          <p:nvPr/>
        </p:nvSpPr>
        <p:spPr>
          <a:xfrm>
            <a:off x="6724650" y="1962150"/>
            <a:ext cx="66675" cy="66675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0" y="1952625"/>
            <a:ext cx="18097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4253F"/>
                </a:solidFill>
              </a:rPr>
              <a:t>Hardware Layer Physical slots and embedded IR sensors.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724650" y="2362200"/>
            <a:ext cx="1885950" cy="4763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33" name="Shape 31"/>
          <p:cNvSpPr/>
          <p:nvPr/>
        </p:nvSpPr>
        <p:spPr>
          <a:xfrm>
            <a:off x="6724650" y="2476500"/>
            <a:ext cx="66675" cy="66675"/>
          </a:xfrm>
          <a:prstGeom prst="rect">
            <a:avLst/>
          </a:prstGeom>
          <a:solidFill>
            <a:srgbClr val="F2C300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0" y="2466975"/>
            <a:ext cx="18097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4253F"/>
                </a:solidFill>
              </a:rPr>
              <a:t>Edge / Network MCU &amp; Wi-Fi / MQTT transport.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724650" y="2876550"/>
            <a:ext cx="1885950" cy="4763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36" name="Shape 34"/>
          <p:cNvSpPr/>
          <p:nvPr/>
        </p:nvSpPr>
        <p:spPr>
          <a:xfrm>
            <a:off x="6724650" y="2990850"/>
            <a:ext cx="66675" cy="66675"/>
          </a:xfrm>
          <a:prstGeom prst="rect">
            <a:avLst/>
          </a:prstGeom>
          <a:solidFill>
            <a:srgbClr val="FAF7EB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0" y="2981325"/>
            <a:ext cx="18097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4253F"/>
                </a:solidFill>
              </a:rPr>
              <a:t>Backend / Storage REST API and PostgreSQL events.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724650" y="3390900"/>
            <a:ext cx="1885950" cy="4763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39" name="Shape 37"/>
          <p:cNvSpPr/>
          <p:nvPr/>
        </p:nvSpPr>
        <p:spPr>
          <a:xfrm>
            <a:off x="6724650" y="3505200"/>
            <a:ext cx="66675" cy="66675"/>
          </a:xfrm>
          <a:prstGeom prst="rect">
            <a:avLst/>
          </a:prstGeom>
          <a:solidFill>
            <a:srgbClr val="117373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0" y="3495675"/>
            <a:ext cx="18097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4253F"/>
                </a:solidFill>
              </a:rPr>
              <a:t>Output Layer Operator dashboards &amp; guidance.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724650" y="3952875"/>
            <a:ext cx="1866900" cy="666750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42" name="Shape 40"/>
          <p:cNvSpPr/>
          <p:nvPr/>
        </p:nvSpPr>
        <p:spPr>
          <a:xfrm>
            <a:off x="6724650" y="3952875"/>
            <a:ext cx="28575" cy="666750"/>
          </a:xfrm>
          <a:prstGeom prst="rect">
            <a:avLst/>
          </a:prstGeom>
          <a:solidFill>
            <a:srgbClr val="F2C300"/>
          </a:solidFill>
          <a:ln/>
        </p:spPr>
      </p:sp>
      <p:sp>
        <p:nvSpPr>
          <p:cNvPr id="43" name="Text 41"/>
          <p:cNvSpPr/>
          <p:nvPr/>
        </p:nvSpPr>
        <p:spPr>
          <a:xfrm>
            <a:off x="6819900" y="4048125"/>
            <a:ext cx="18669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8" dirty="0">
                <a:solidFill>
                  <a:srgbClr val="F2C300"/>
                </a:solidFill>
              </a:rPr>
              <a:t>Driver Guidance</a:t>
            </a:r>
            <a:endParaRPr lang="en-US" sz="488" dirty="0"/>
          </a:p>
        </p:txBody>
      </p:sp>
      <p:sp>
        <p:nvSpPr>
          <p:cNvPr id="44" name="Text 42"/>
          <p:cNvSpPr/>
          <p:nvPr/>
        </p:nvSpPr>
        <p:spPr>
          <a:xfrm>
            <a:off x="6819900" y="4210050"/>
            <a:ext cx="1714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7" dirty="0">
                <a:solidFill>
                  <a:srgbClr val="ECE7D8"/>
                </a:solidFill>
              </a:rPr>
              <a:t>Vacant slot identified → operator sees it → directs driver to that slot.</a:t>
            </a:r>
            <a:endParaRPr lang="en-US" sz="637" dirty="0"/>
          </a:p>
        </p:txBody>
      </p:sp>
      <p:sp>
        <p:nvSpPr>
          <p:cNvPr id="45" name="Text 43"/>
          <p:cNvSpPr/>
          <p:nvPr/>
        </p:nvSpPr>
        <p:spPr>
          <a:xfrm>
            <a:off x="8667750" y="4857750"/>
            <a:ext cx="2857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25" dirty="0">
                <a:solidFill>
                  <a:srgbClr val="4D5663"/>
                </a:solidFill>
              </a:rPr>
              <a:t>07</a:t>
            </a:r>
            <a:endParaRPr lang="en-US" sz="525" dirty="0"/>
          </a:p>
        </p:txBody>
      </p:sp>
      <p:sp>
        <p:nvSpPr>
          <p:cNvPr id="46" name="Shape 44"/>
          <p:cNvSpPr/>
          <p:nvPr/>
        </p:nvSpPr>
        <p:spPr>
          <a:xfrm>
            <a:off x="8248650" y="4895850"/>
            <a:ext cx="371475" cy="9525"/>
          </a:xfrm>
          <a:prstGeom prst="rect">
            <a:avLst/>
          </a:prstGeom>
          <a:solidFill>
            <a:srgbClr val="14253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E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57200"/>
            <a:ext cx="81153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5" dirty="0">
                <a:solidFill>
                  <a:srgbClr val="4D5663"/>
                </a:solidFill>
              </a:rPr>
              <a:t>04 — Comparison</a:t>
            </a:r>
            <a:endParaRPr lang="en-US" sz="525" dirty="0"/>
          </a:p>
        </p:txBody>
      </p:sp>
      <p:sp>
        <p:nvSpPr>
          <p:cNvPr id="3" name="Shape 1"/>
          <p:cNvSpPr/>
          <p:nvPr/>
        </p:nvSpPr>
        <p:spPr>
          <a:xfrm>
            <a:off x="571500" y="619125"/>
            <a:ext cx="266700" cy="14288"/>
          </a:xfrm>
          <a:prstGeom prst="rect">
            <a:avLst/>
          </a:prstGeom>
          <a:solidFill>
            <a:srgbClr val="F2C300"/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752475"/>
            <a:ext cx="7048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>
                <a:solidFill>
                  <a:srgbClr val="14253F"/>
                </a:solidFill>
              </a:rPr>
              <a:t>Existing vs Proposed System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571500" y="1333500"/>
            <a:ext cx="8001000" cy="3238500"/>
          </a:xfrm>
          <a:prstGeom prst="rect">
            <a:avLst/>
          </a:prstGeom>
          <a:solidFill>
            <a:srgbClr val="F4F0E2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1333500"/>
            <a:ext cx="8001000" cy="381000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1333500"/>
            <a:ext cx="8001000" cy="19050"/>
          </a:xfrm>
          <a:prstGeom prst="rect">
            <a:avLst/>
          </a:prstGeom>
          <a:solidFill>
            <a:srgbClr val="F2C300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466850"/>
            <a:ext cx="1143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5" dirty="0">
                <a:solidFill>
                  <a:srgbClr val="F2C300"/>
                </a:solidFill>
              </a:rPr>
              <a:t>Feature</a:t>
            </a:r>
            <a:endParaRPr lang="en-US" sz="525" dirty="0"/>
          </a:p>
        </p:txBody>
      </p:sp>
      <p:sp>
        <p:nvSpPr>
          <p:cNvPr id="9" name="Text 7"/>
          <p:cNvSpPr/>
          <p:nvPr/>
        </p:nvSpPr>
        <p:spPr>
          <a:xfrm>
            <a:off x="2476500" y="1466850"/>
            <a:ext cx="25717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5" dirty="0">
                <a:solidFill>
                  <a:srgbClr val="ECE7D8"/>
                </a:solidFill>
              </a:rPr>
              <a:t>Traditional Parking</a:t>
            </a:r>
            <a:endParaRPr lang="en-US" sz="525" dirty="0"/>
          </a:p>
        </p:txBody>
      </p:sp>
      <p:sp>
        <p:nvSpPr>
          <p:cNvPr id="10" name="Text 8"/>
          <p:cNvSpPr/>
          <p:nvPr/>
        </p:nvSpPr>
        <p:spPr>
          <a:xfrm>
            <a:off x="5448300" y="1466850"/>
            <a:ext cx="2667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5" dirty="0">
                <a:solidFill>
                  <a:srgbClr val="F2C300"/>
                </a:solidFill>
              </a:rPr>
              <a:t>PARKORA — IoT System</a:t>
            </a:r>
            <a:endParaRPr lang="en-US" sz="525" dirty="0"/>
          </a:p>
        </p:txBody>
      </p:sp>
      <p:sp>
        <p:nvSpPr>
          <p:cNvPr id="11" name="Shape 9"/>
          <p:cNvSpPr/>
          <p:nvPr/>
        </p:nvSpPr>
        <p:spPr>
          <a:xfrm>
            <a:off x="5238750" y="1333500"/>
            <a:ext cx="4763" cy="3238500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12" name="Shape 10"/>
          <p:cNvSpPr/>
          <p:nvPr/>
        </p:nvSpPr>
        <p:spPr>
          <a:xfrm>
            <a:off x="5143500" y="1809750"/>
            <a:ext cx="3429000" cy="476250"/>
          </a:xfrm>
          <a:prstGeom prst="rect">
            <a:avLst/>
          </a:prstGeom>
          <a:solidFill>
            <a:srgbClr val="FAF7EB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1962150"/>
            <a:ext cx="1143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4253F"/>
                </a:solidFill>
              </a:rPr>
              <a:t>Occupancy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76500" y="1962150"/>
            <a:ext cx="25717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1B2330"/>
                </a:solidFill>
              </a:rPr>
              <a:t>Manual checking by guards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353050" y="1962150"/>
            <a:ext cx="2857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14253F"/>
                </a:solidFill>
              </a:rPr>
              <a:t>Automated sensor-based detection</a:t>
            </a:r>
            <a:endParaRPr lang="en-US" sz="825" dirty="0"/>
          </a:p>
        </p:txBody>
      </p:sp>
      <p:sp>
        <p:nvSpPr>
          <p:cNvPr id="16" name="Shape 14"/>
          <p:cNvSpPr/>
          <p:nvPr/>
        </p:nvSpPr>
        <p:spPr>
          <a:xfrm>
            <a:off x="762000" y="2352675"/>
            <a:ext cx="7620000" cy="4763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17" name="Shape 15"/>
          <p:cNvSpPr/>
          <p:nvPr/>
        </p:nvSpPr>
        <p:spPr>
          <a:xfrm>
            <a:off x="5143500" y="2352675"/>
            <a:ext cx="3429000" cy="476250"/>
          </a:xfrm>
          <a:prstGeom prst="rect">
            <a:avLst/>
          </a:prstGeom>
          <a:solidFill>
            <a:srgbClr val="FAF7EB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2505075"/>
            <a:ext cx="1143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4253F"/>
                </a:solidFill>
              </a:rPr>
              <a:t>Availability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76500" y="2505075"/>
            <a:ext cx="25717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1B2330"/>
                </a:solidFill>
              </a:rPr>
              <a:t>Limited or no live information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5353050" y="2505075"/>
            <a:ext cx="2857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14253F"/>
                </a:solidFill>
              </a:rPr>
              <a:t>Real-time slot status sync</a:t>
            </a:r>
            <a:endParaRPr lang="en-US" sz="825" dirty="0"/>
          </a:p>
        </p:txBody>
      </p:sp>
      <p:sp>
        <p:nvSpPr>
          <p:cNvPr id="21" name="Shape 19"/>
          <p:cNvSpPr/>
          <p:nvPr/>
        </p:nvSpPr>
        <p:spPr>
          <a:xfrm>
            <a:off x="762000" y="2895600"/>
            <a:ext cx="7620000" cy="4763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22" name="Shape 20"/>
          <p:cNvSpPr/>
          <p:nvPr/>
        </p:nvSpPr>
        <p:spPr>
          <a:xfrm>
            <a:off x="5143500" y="2895600"/>
            <a:ext cx="3429000" cy="476250"/>
          </a:xfrm>
          <a:prstGeom prst="rect">
            <a:avLst/>
          </a:prstGeom>
          <a:solidFill>
            <a:srgbClr val="FAF7EB"/>
          </a:solidFill>
          <a:ln/>
        </p:spPr>
      </p:sp>
      <p:sp>
        <p:nvSpPr>
          <p:cNvPr id="23" name="Text 21"/>
          <p:cNvSpPr/>
          <p:nvPr/>
        </p:nvSpPr>
        <p:spPr>
          <a:xfrm>
            <a:off x="762000" y="3048000"/>
            <a:ext cx="1143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4253F"/>
                </a:solidFill>
              </a:rPr>
              <a:t>Guidance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476500" y="3048000"/>
            <a:ext cx="25717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1B2330"/>
                </a:solidFill>
              </a:rPr>
              <a:t>Static signage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5353050" y="3048000"/>
            <a:ext cx="2857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14253F"/>
                </a:solidFill>
              </a:rPr>
              <a:t>Slot-based directional guidance</a:t>
            </a:r>
            <a:endParaRPr lang="en-US" sz="825" dirty="0"/>
          </a:p>
        </p:txBody>
      </p:sp>
      <p:sp>
        <p:nvSpPr>
          <p:cNvPr id="26" name="Shape 24"/>
          <p:cNvSpPr/>
          <p:nvPr/>
        </p:nvSpPr>
        <p:spPr>
          <a:xfrm>
            <a:off x="762000" y="3438525"/>
            <a:ext cx="7620000" cy="4763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27" name="Shape 25"/>
          <p:cNvSpPr/>
          <p:nvPr/>
        </p:nvSpPr>
        <p:spPr>
          <a:xfrm>
            <a:off x="5143500" y="3438525"/>
            <a:ext cx="3429000" cy="476250"/>
          </a:xfrm>
          <a:prstGeom prst="rect">
            <a:avLst/>
          </a:prstGeom>
          <a:solidFill>
            <a:srgbClr val="FAF7EB"/>
          </a:solidFill>
          <a:ln/>
        </p:spPr>
      </p:sp>
      <p:sp>
        <p:nvSpPr>
          <p:cNvPr id="28" name="Text 26"/>
          <p:cNvSpPr/>
          <p:nvPr/>
        </p:nvSpPr>
        <p:spPr>
          <a:xfrm>
            <a:off x="762000" y="3590925"/>
            <a:ext cx="1143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4253F"/>
                </a:solidFill>
              </a:rPr>
              <a:t>Monitoring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476500" y="3590925"/>
            <a:ext cx="25717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1B2330"/>
                </a:solidFill>
              </a:rPr>
              <a:t>Manual inspection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5353050" y="3590925"/>
            <a:ext cx="2857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14253F"/>
                </a:solidFill>
              </a:rPr>
              <a:t>Centralized security dashboard</a:t>
            </a:r>
            <a:endParaRPr lang="en-US" sz="825" dirty="0"/>
          </a:p>
        </p:txBody>
      </p:sp>
      <p:sp>
        <p:nvSpPr>
          <p:cNvPr id="31" name="Shape 29"/>
          <p:cNvSpPr/>
          <p:nvPr/>
        </p:nvSpPr>
        <p:spPr>
          <a:xfrm>
            <a:off x="762000" y="3981450"/>
            <a:ext cx="7620000" cy="4763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32" name="Shape 30"/>
          <p:cNvSpPr/>
          <p:nvPr/>
        </p:nvSpPr>
        <p:spPr>
          <a:xfrm>
            <a:off x="5143500" y="3981450"/>
            <a:ext cx="3429000" cy="476250"/>
          </a:xfrm>
          <a:prstGeom prst="rect">
            <a:avLst/>
          </a:prstGeom>
          <a:solidFill>
            <a:srgbClr val="FAF7EB"/>
          </a:solidFill>
          <a:ln/>
        </p:spPr>
      </p:sp>
      <p:sp>
        <p:nvSpPr>
          <p:cNvPr id="33" name="Text 31"/>
          <p:cNvSpPr/>
          <p:nvPr/>
        </p:nvSpPr>
        <p:spPr>
          <a:xfrm>
            <a:off x="762000" y="4133850"/>
            <a:ext cx="1143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4253F"/>
                </a:solidFill>
              </a:rPr>
              <a:t>History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76500" y="4133850"/>
            <a:ext cx="25717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1B2330"/>
                </a:solidFill>
              </a:rPr>
              <a:t>No digital records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5353050" y="4133850"/>
            <a:ext cx="2857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14253F"/>
                </a:solidFill>
              </a:rPr>
              <a:t>Stored digitally for reporting</a:t>
            </a:r>
            <a:endParaRPr lang="en-US" sz="825" dirty="0"/>
          </a:p>
        </p:txBody>
      </p:sp>
      <p:sp>
        <p:nvSpPr>
          <p:cNvPr id="36" name="Shape 34"/>
          <p:cNvSpPr/>
          <p:nvPr/>
        </p:nvSpPr>
        <p:spPr>
          <a:xfrm>
            <a:off x="8286750" y="2000250"/>
            <a:ext cx="66675" cy="66675"/>
          </a:xfrm>
          <a:prstGeom prst="rect">
            <a:avLst/>
          </a:prstGeom>
          <a:solidFill>
            <a:srgbClr val="117373"/>
          </a:solidFill>
          <a:ln/>
        </p:spPr>
      </p:sp>
      <p:sp>
        <p:nvSpPr>
          <p:cNvPr id="37" name="Shape 35"/>
          <p:cNvSpPr/>
          <p:nvPr/>
        </p:nvSpPr>
        <p:spPr>
          <a:xfrm>
            <a:off x="8286750" y="2543175"/>
            <a:ext cx="66675" cy="66675"/>
          </a:xfrm>
          <a:prstGeom prst="rect">
            <a:avLst/>
          </a:prstGeom>
          <a:solidFill>
            <a:srgbClr val="117373"/>
          </a:solidFill>
          <a:ln/>
        </p:spPr>
      </p:sp>
      <p:sp>
        <p:nvSpPr>
          <p:cNvPr id="38" name="Shape 36"/>
          <p:cNvSpPr/>
          <p:nvPr/>
        </p:nvSpPr>
        <p:spPr>
          <a:xfrm>
            <a:off x="8286750" y="3086100"/>
            <a:ext cx="66675" cy="66675"/>
          </a:xfrm>
          <a:prstGeom prst="rect">
            <a:avLst/>
          </a:prstGeom>
          <a:solidFill>
            <a:srgbClr val="117373"/>
          </a:solidFill>
          <a:ln/>
        </p:spPr>
      </p:sp>
      <p:sp>
        <p:nvSpPr>
          <p:cNvPr id="39" name="Shape 37"/>
          <p:cNvSpPr/>
          <p:nvPr/>
        </p:nvSpPr>
        <p:spPr>
          <a:xfrm>
            <a:off x="8286750" y="3629025"/>
            <a:ext cx="66675" cy="66675"/>
          </a:xfrm>
          <a:prstGeom prst="rect">
            <a:avLst/>
          </a:prstGeom>
          <a:solidFill>
            <a:srgbClr val="117373"/>
          </a:solidFill>
          <a:ln/>
        </p:spPr>
      </p:sp>
      <p:sp>
        <p:nvSpPr>
          <p:cNvPr id="40" name="Shape 38"/>
          <p:cNvSpPr/>
          <p:nvPr/>
        </p:nvSpPr>
        <p:spPr>
          <a:xfrm>
            <a:off x="8286750" y="4171950"/>
            <a:ext cx="66675" cy="66675"/>
          </a:xfrm>
          <a:prstGeom prst="rect">
            <a:avLst/>
          </a:prstGeom>
          <a:solidFill>
            <a:srgbClr val="117373"/>
          </a:solidFill>
          <a:ln/>
        </p:spPr>
      </p:sp>
      <p:sp>
        <p:nvSpPr>
          <p:cNvPr id="41" name="Text 39"/>
          <p:cNvSpPr/>
          <p:nvPr/>
        </p:nvSpPr>
        <p:spPr>
          <a:xfrm>
            <a:off x="8667750" y="4743450"/>
            <a:ext cx="2857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25" dirty="0">
                <a:solidFill>
                  <a:srgbClr val="4D5663"/>
                </a:solidFill>
              </a:rPr>
              <a:t>04</a:t>
            </a:r>
            <a:endParaRPr lang="en-US" sz="525" dirty="0"/>
          </a:p>
        </p:txBody>
      </p:sp>
      <p:sp>
        <p:nvSpPr>
          <p:cNvPr id="42" name="Shape 40"/>
          <p:cNvSpPr/>
          <p:nvPr/>
        </p:nvSpPr>
        <p:spPr>
          <a:xfrm>
            <a:off x="8248650" y="4781550"/>
            <a:ext cx="371475" cy="9525"/>
          </a:xfrm>
          <a:prstGeom prst="rect">
            <a:avLst/>
          </a:prstGeom>
          <a:solidFill>
            <a:srgbClr val="14253F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E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57200"/>
            <a:ext cx="81153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5" dirty="0">
                <a:solidFill>
                  <a:srgbClr val="4D5663"/>
                </a:solidFill>
              </a:rPr>
              <a:t>10 — Dashboard</a:t>
            </a:r>
            <a:endParaRPr lang="en-US" sz="525" dirty="0"/>
          </a:p>
        </p:txBody>
      </p:sp>
      <p:sp>
        <p:nvSpPr>
          <p:cNvPr id="3" name="Shape 1"/>
          <p:cNvSpPr/>
          <p:nvPr/>
        </p:nvSpPr>
        <p:spPr>
          <a:xfrm>
            <a:off x="571500" y="619125"/>
            <a:ext cx="266700" cy="14288"/>
          </a:xfrm>
          <a:prstGeom prst="rect">
            <a:avLst/>
          </a:prstGeom>
          <a:solidFill>
            <a:srgbClr val="F2C300"/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752475"/>
            <a:ext cx="7048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4253F"/>
                </a:solidFill>
              </a:rPr>
              <a:t>Security / Admin Dashboard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34300" y="762000"/>
            <a:ext cx="952500" cy="171450"/>
          </a:xfrm>
          <a:prstGeom prst="rect">
            <a:avLst/>
          </a:prstGeom>
          <a:solidFill>
            <a:srgbClr val="F2C300"/>
          </a:solidFill>
          <a:ln/>
        </p:spPr>
      </p:sp>
      <p:sp>
        <p:nvSpPr>
          <p:cNvPr id="6" name="Text 4"/>
          <p:cNvSpPr/>
          <p:nvPr/>
        </p:nvSpPr>
        <p:spPr>
          <a:xfrm>
            <a:off x="7734300" y="790575"/>
            <a:ext cx="952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8" dirty="0">
                <a:solidFill>
                  <a:srgbClr val="14253F"/>
                </a:solidFill>
              </a:rPr>
              <a:t>Prototype Demo Data</a:t>
            </a:r>
            <a:endParaRPr lang="en-US" sz="488" dirty="0"/>
          </a:p>
        </p:txBody>
      </p:sp>
      <p:sp>
        <p:nvSpPr>
          <p:cNvPr id="7" name="Shape 5"/>
          <p:cNvSpPr/>
          <p:nvPr/>
        </p:nvSpPr>
        <p:spPr>
          <a:xfrm>
            <a:off x="381000" y="1143000"/>
            <a:ext cx="8382000" cy="3714750"/>
          </a:xfrm>
          <a:prstGeom prst="rect">
            <a:avLst/>
          </a:prstGeom>
          <a:solidFill>
            <a:srgbClr val="F4F0E2"/>
          </a:solidFill>
          <a:ln/>
        </p:spPr>
      </p:sp>
      <p:sp>
        <p:nvSpPr>
          <p:cNvPr id="8" name="Shape 6"/>
          <p:cNvSpPr/>
          <p:nvPr/>
        </p:nvSpPr>
        <p:spPr>
          <a:xfrm>
            <a:off x="381000" y="1143000"/>
            <a:ext cx="8382000" cy="400050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9" name="Shape 7"/>
          <p:cNvSpPr/>
          <p:nvPr/>
        </p:nvSpPr>
        <p:spPr>
          <a:xfrm>
            <a:off x="381000" y="1143000"/>
            <a:ext cx="8382000" cy="14288"/>
          </a:xfrm>
          <a:prstGeom prst="rect">
            <a:avLst/>
          </a:prstGeom>
          <a:solidFill>
            <a:srgbClr val="F2C300"/>
          </a:solidFill>
          <a:ln/>
        </p:spPr>
      </p:sp>
      <p:sp>
        <p:nvSpPr>
          <p:cNvPr id="10" name="Text 8"/>
          <p:cNvSpPr/>
          <p:nvPr/>
        </p:nvSpPr>
        <p:spPr>
          <a:xfrm>
            <a:off x="571500" y="1247775"/>
            <a:ext cx="81153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8" dirty="0">
                <a:solidFill>
                  <a:srgbClr val="F2C300"/>
                </a:solidFill>
              </a:rPr>
              <a:t>parkora_system_live</a:t>
            </a:r>
            <a:endParaRPr lang="en-US" sz="488" dirty="0"/>
          </a:p>
        </p:txBody>
      </p:sp>
      <p:sp>
        <p:nvSpPr>
          <p:cNvPr id="11" name="Text 9"/>
          <p:cNvSpPr/>
          <p:nvPr/>
        </p:nvSpPr>
        <p:spPr>
          <a:xfrm>
            <a:off x="571500" y="1371600"/>
            <a:ext cx="81153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ECE7D8"/>
                </a:solidFill>
              </a:rPr>
              <a:t>Live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5619750" y="1209675"/>
            <a:ext cx="76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" dirty="0">
                <a:solidFill>
                  <a:srgbClr val="B0B7BE"/>
                </a:solidFill>
              </a:rPr>
              <a:t>Total Slots 16</a:t>
            </a:r>
            <a:endParaRPr lang="en-US" sz="450" dirty="0"/>
          </a:p>
        </p:txBody>
      </p:sp>
      <p:sp>
        <p:nvSpPr>
          <p:cNvPr id="13" name="Text 11"/>
          <p:cNvSpPr/>
          <p:nvPr/>
        </p:nvSpPr>
        <p:spPr>
          <a:xfrm>
            <a:off x="6572250" y="1209675"/>
            <a:ext cx="76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" dirty="0">
                <a:solidFill>
                  <a:srgbClr val="B0B7BE"/>
                </a:solidFill>
              </a:rPr>
              <a:t>Available 10</a:t>
            </a:r>
            <a:endParaRPr lang="en-US" sz="450" dirty="0"/>
          </a:p>
        </p:txBody>
      </p:sp>
      <p:sp>
        <p:nvSpPr>
          <p:cNvPr id="14" name="Text 12"/>
          <p:cNvSpPr/>
          <p:nvPr/>
        </p:nvSpPr>
        <p:spPr>
          <a:xfrm>
            <a:off x="7524750" y="1209675"/>
            <a:ext cx="76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" dirty="0">
                <a:solidFill>
                  <a:srgbClr val="B0B7BE"/>
                </a:solidFill>
              </a:rPr>
              <a:t>Occupied 06</a:t>
            </a:r>
            <a:endParaRPr lang="en-US" sz="450" dirty="0"/>
          </a:p>
        </p:txBody>
      </p:sp>
      <p:sp>
        <p:nvSpPr>
          <p:cNvPr id="15" name="Text 13"/>
          <p:cNvSpPr/>
          <p:nvPr/>
        </p:nvSpPr>
        <p:spPr>
          <a:xfrm>
            <a:off x="571500" y="1752600"/>
            <a:ext cx="81153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5" dirty="0">
                <a:solidFill>
                  <a:srgbClr val="14253F"/>
                </a:solidFill>
              </a:rPr>
              <a:t>FLOOR_01 (Section A &amp; Section B)</a:t>
            </a:r>
            <a:endParaRPr lang="en-US" sz="525" dirty="0"/>
          </a:p>
        </p:txBody>
      </p:sp>
      <p:sp>
        <p:nvSpPr>
          <p:cNvPr id="16" name="Shape 14"/>
          <p:cNvSpPr/>
          <p:nvPr/>
        </p:nvSpPr>
        <p:spPr>
          <a:xfrm>
            <a:off x="571500" y="2000250"/>
            <a:ext cx="619125" cy="523875"/>
          </a:xfrm>
          <a:prstGeom prst="rect">
            <a:avLst/>
          </a:prstGeom>
          <a:solidFill>
            <a:srgbClr val="FAF7EB"/>
          </a:solidFill>
          <a:ln/>
        </p:spPr>
      </p:sp>
      <p:sp>
        <p:nvSpPr>
          <p:cNvPr id="17" name="Text 15"/>
          <p:cNvSpPr/>
          <p:nvPr/>
        </p:nvSpPr>
        <p:spPr>
          <a:xfrm>
            <a:off x="571500" y="2238375"/>
            <a:ext cx="61912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655F"/>
                </a:solidFill>
              </a:rPr>
              <a:t>A-01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71500" y="2371725"/>
            <a:ext cx="61912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13" dirty="0">
                <a:solidFill>
                  <a:srgbClr val="B8655F"/>
                </a:solidFill>
              </a:rPr>
              <a:t>occupied</a:t>
            </a:r>
            <a:endParaRPr lang="en-US" sz="413" dirty="0"/>
          </a:p>
        </p:txBody>
      </p:sp>
      <p:sp>
        <p:nvSpPr>
          <p:cNvPr id="19" name="Shape 17"/>
          <p:cNvSpPr/>
          <p:nvPr/>
        </p:nvSpPr>
        <p:spPr>
          <a:xfrm>
            <a:off x="1257300" y="2000250"/>
            <a:ext cx="619125" cy="523875"/>
          </a:xfrm>
          <a:prstGeom prst="rect">
            <a:avLst/>
          </a:prstGeom>
          <a:solidFill>
            <a:srgbClr val="FAF7EB"/>
          </a:solidFill>
          <a:ln/>
        </p:spPr>
      </p:sp>
      <p:sp>
        <p:nvSpPr>
          <p:cNvPr id="20" name="Text 18"/>
          <p:cNvSpPr/>
          <p:nvPr/>
        </p:nvSpPr>
        <p:spPr>
          <a:xfrm>
            <a:off x="1257300" y="2238375"/>
            <a:ext cx="61912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7373"/>
                </a:solidFill>
              </a:rPr>
              <a:t>A-02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57300" y="2371725"/>
            <a:ext cx="61912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13" dirty="0">
                <a:solidFill>
                  <a:srgbClr val="117373"/>
                </a:solidFill>
              </a:rPr>
              <a:t>vacant</a:t>
            </a:r>
            <a:endParaRPr lang="en-US" sz="413" dirty="0"/>
          </a:p>
        </p:txBody>
      </p:sp>
      <p:sp>
        <p:nvSpPr>
          <p:cNvPr id="22" name="Shape 20"/>
          <p:cNvSpPr/>
          <p:nvPr/>
        </p:nvSpPr>
        <p:spPr>
          <a:xfrm>
            <a:off x="1943100" y="2000250"/>
            <a:ext cx="619125" cy="523875"/>
          </a:xfrm>
          <a:prstGeom prst="rect">
            <a:avLst/>
          </a:prstGeom>
          <a:solidFill>
            <a:srgbClr val="FAF7EB"/>
          </a:solidFill>
          <a:ln/>
        </p:spPr>
      </p:sp>
      <p:sp>
        <p:nvSpPr>
          <p:cNvPr id="23" name="Text 21"/>
          <p:cNvSpPr/>
          <p:nvPr/>
        </p:nvSpPr>
        <p:spPr>
          <a:xfrm>
            <a:off x="1943100" y="2238375"/>
            <a:ext cx="61912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7373"/>
                </a:solidFill>
              </a:rPr>
              <a:t>A-03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943100" y="2371725"/>
            <a:ext cx="61912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13" dirty="0">
                <a:solidFill>
                  <a:srgbClr val="117373"/>
                </a:solidFill>
              </a:rPr>
              <a:t>vacant</a:t>
            </a:r>
            <a:endParaRPr lang="en-US" sz="413" dirty="0"/>
          </a:p>
        </p:txBody>
      </p:sp>
      <p:sp>
        <p:nvSpPr>
          <p:cNvPr id="25" name="Shape 23"/>
          <p:cNvSpPr/>
          <p:nvPr/>
        </p:nvSpPr>
        <p:spPr>
          <a:xfrm>
            <a:off x="2628900" y="2000250"/>
            <a:ext cx="619125" cy="523875"/>
          </a:xfrm>
          <a:prstGeom prst="rect">
            <a:avLst/>
          </a:prstGeom>
          <a:solidFill>
            <a:srgbClr val="FAF7EB"/>
          </a:solidFill>
          <a:ln/>
        </p:spPr>
      </p:sp>
      <p:sp>
        <p:nvSpPr>
          <p:cNvPr id="26" name="Text 24"/>
          <p:cNvSpPr/>
          <p:nvPr/>
        </p:nvSpPr>
        <p:spPr>
          <a:xfrm>
            <a:off x="2628900" y="2238375"/>
            <a:ext cx="61912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655F"/>
                </a:solidFill>
              </a:rPr>
              <a:t>A-04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628900" y="2371725"/>
            <a:ext cx="61912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13" dirty="0">
                <a:solidFill>
                  <a:srgbClr val="B8655F"/>
                </a:solidFill>
              </a:rPr>
              <a:t>occupied</a:t>
            </a:r>
            <a:endParaRPr lang="en-US" sz="413" dirty="0"/>
          </a:p>
        </p:txBody>
      </p:sp>
      <p:sp>
        <p:nvSpPr>
          <p:cNvPr id="28" name="Shape 26"/>
          <p:cNvSpPr/>
          <p:nvPr/>
        </p:nvSpPr>
        <p:spPr>
          <a:xfrm>
            <a:off x="3314700" y="2000250"/>
            <a:ext cx="619125" cy="523875"/>
          </a:xfrm>
          <a:prstGeom prst="rect">
            <a:avLst/>
          </a:prstGeom>
          <a:solidFill>
            <a:srgbClr val="FAF7EB"/>
          </a:solidFill>
          <a:ln/>
        </p:spPr>
      </p:sp>
      <p:sp>
        <p:nvSpPr>
          <p:cNvPr id="29" name="Text 27"/>
          <p:cNvSpPr/>
          <p:nvPr/>
        </p:nvSpPr>
        <p:spPr>
          <a:xfrm>
            <a:off x="3314700" y="2238375"/>
            <a:ext cx="61912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7373"/>
                </a:solidFill>
              </a:rPr>
              <a:t>A-05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314700" y="2371725"/>
            <a:ext cx="61912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13" dirty="0">
                <a:solidFill>
                  <a:srgbClr val="117373"/>
                </a:solidFill>
              </a:rPr>
              <a:t>vacant</a:t>
            </a:r>
            <a:endParaRPr lang="en-US" sz="413" dirty="0"/>
          </a:p>
        </p:txBody>
      </p:sp>
      <p:sp>
        <p:nvSpPr>
          <p:cNvPr id="31" name="Shape 29"/>
          <p:cNvSpPr/>
          <p:nvPr/>
        </p:nvSpPr>
        <p:spPr>
          <a:xfrm>
            <a:off x="4000500" y="2000250"/>
            <a:ext cx="619125" cy="523875"/>
          </a:xfrm>
          <a:prstGeom prst="rect">
            <a:avLst/>
          </a:prstGeom>
          <a:solidFill>
            <a:srgbClr val="FAF7EB"/>
          </a:solidFill>
          <a:ln/>
        </p:spPr>
      </p:sp>
      <p:sp>
        <p:nvSpPr>
          <p:cNvPr id="32" name="Text 30"/>
          <p:cNvSpPr/>
          <p:nvPr/>
        </p:nvSpPr>
        <p:spPr>
          <a:xfrm>
            <a:off x="4000500" y="2238375"/>
            <a:ext cx="61912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7373"/>
                </a:solidFill>
              </a:rPr>
              <a:t>A-06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000500" y="2371725"/>
            <a:ext cx="61912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13" dirty="0">
                <a:solidFill>
                  <a:srgbClr val="117373"/>
                </a:solidFill>
              </a:rPr>
              <a:t>vacant</a:t>
            </a:r>
            <a:endParaRPr lang="en-US" sz="413" dirty="0"/>
          </a:p>
        </p:txBody>
      </p:sp>
      <p:sp>
        <p:nvSpPr>
          <p:cNvPr id="34" name="Shape 32"/>
          <p:cNvSpPr/>
          <p:nvPr/>
        </p:nvSpPr>
        <p:spPr>
          <a:xfrm>
            <a:off x="4686300" y="2000250"/>
            <a:ext cx="619125" cy="523875"/>
          </a:xfrm>
          <a:prstGeom prst="rect">
            <a:avLst/>
          </a:prstGeom>
          <a:solidFill>
            <a:srgbClr val="FAF7EB"/>
          </a:solidFill>
          <a:ln/>
        </p:spPr>
      </p:sp>
      <p:sp>
        <p:nvSpPr>
          <p:cNvPr id="35" name="Text 33"/>
          <p:cNvSpPr/>
          <p:nvPr/>
        </p:nvSpPr>
        <p:spPr>
          <a:xfrm>
            <a:off x="4686300" y="2238375"/>
            <a:ext cx="61912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7373"/>
                </a:solidFill>
              </a:rPr>
              <a:t>A-07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686300" y="2371725"/>
            <a:ext cx="61912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13" dirty="0">
                <a:solidFill>
                  <a:srgbClr val="117373"/>
                </a:solidFill>
              </a:rPr>
              <a:t>vacant</a:t>
            </a:r>
            <a:endParaRPr lang="en-US" sz="413" dirty="0"/>
          </a:p>
        </p:txBody>
      </p:sp>
      <p:sp>
        <p:nvSpPr>
          <p:cNvPr id="37" name="Shape 35"/>
          <p:cNvSpPr/>
          <p:nvPr/>
        </p:nvSpPr>
        <p:spPr>
          <a:xfrm>
            <a:off x="5372100" y="2000250"/>
            <a:ext cx="619125" cy="523875"/>
          </a:xfrm>
          <a:prstGeom prst="rect">
            <a:avLst/>
          </a:prstGeom>
          <a:solidFill>
            <a:srgbClr val="FAF7EB"/>
          </a:solidFill>
          <a:ln/>
        </p:spPr>
      </p:sp>
      <p:sp>
        <p:nvSpPr>
          <p:cNvPr id="38" name="Text 36"/>
          <p:cNvSpPr/>
          <p:nvPr/>
        </p:nvSpPr>
        <p:spPr>
          <a:xfrm>
            <a:off x="5372100" y="2238375"/>
            <a:ext cx="61912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7373"/>
                </a:solidFill>
              </a:rPr>
              <a:t>A-08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372100" y="2371725"/>
            <a:ext cx="61912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13" dirty="0">
                <a:solidFill>
                  <a:srgbClr val="117373"/>
                </a:solidFill>
              </a:rPr>
              <a:t>vacant</a:t>
            </a:r>
            <a:endParaRPr lang="en-US" sz="413" dirty="0"/>
          </a:p>
        </p:txBody>
      </p:sp>
      <p:sp>
        <p:nvSpPr>
          <p:cNvPr id="40" name="Shape 38"/>
          <p:cNvSpPr/>
          <p:nvPr/>
        </p:nvSpPr>
        <p:spPr>
          <a:xfrm>
            <a:off x="571500" y="2609850"/>
            <a:ext cx="619125" cy="523875"/>
          </a:xfrm>
          <a:prstGeom prst="rect">
            <a:avLst/>
          </a:prstGeom>
          <a:solidFill>
            <a:srgbClr val="FAF7EB"/>
          </a:solidFill>
          <a:ln/>
        </p:spPr>
      </p:sp>
      <p:sp>
        <p:nvSpPr>
          <p:cNvPr id="41" name="Text 39"/>
          <p:cNvSpPr/>
          <p:nvPr/>
        </p:nvSpPr>
        <p:spPr>
          <a:xfrm>
            <a:off x="571500" y="2847975"/>
            <a:ext cx="61912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7373"/>
                </a:solidFill>
              </a:rPr>
              <a:t>B-01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71500" y="2981325"/>
            <a:ext cx="61912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13" dirty="0">
                <a:solidFill>
                  <a:srgbClr val="117373"/>
                </a:solidFill>
              </a:rPr>
              <a:t>vacant</a:t>
            </a:r>
            <a:endParaRPr lang="en-US" sz="413" dirty="0"/>
          </a:p>
        </p:txBody>
      </p:sp>
      <p:sp>
        <p:nvSpPr>
          <p:cNvPr id="43" name="Shape 41"/>
          <p:cNvSpPr/>
          <p:nvPr/>
        </p:nvSpPr>
        <p:spPr>
          <a:xfrm>
            <a:off x="1257300" y="2609850"/>
            <a:ext cx="619125" cy="523875"/>
          </a:xfrm>
          <a:prstGeom prst="rect">
            <a:avLst/>
          </a:prstGeom>
          <a:solidFill>
            <a:srgbClr val="FAF7EB"/>
          </a:solidFill>
          <a:ln/>
        </p:spPr>
      </p:sp>
      <p:sp>
        <p:nvSpPr>
          <p:cNvPr id="44" name="Text 42"/>
          <p:cNvSpPr/>
          <p:nvPr/>
        </p:nvSpPr>
        <p:spPr>
          <a:xfrm>
            <a:off x="1257300" y="2847975"/>
            <a:ext cx="61912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7373"/>
                </a:solidFill>
              </a:rPr>
              <a:t>B-02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257300" y="2981325"/>
            <a:ext cx="61912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13" dirty="0">
                <a:solidFill>
                  <a:srgbClr val="117373"/>
                </a:solidFill>
              </a:rPr>
              <a:t>vacant</a:t>
            </a:r>
            <a:endParaRPr lang="en-US" sz="413" dirty="0"/>
          </a:p>
        </p:txBody>
      </p:sp>
      <p:sp>
        <p:nvSpPr>
          <p:cNvPr id="46" name="Shape 44"/>
          <p:cNvSpPr/>
          <p:nvPr/>
        </p:nvSpPr>
        <p:spPr>
          <a:xfrm>
            <a:off x="1943100" y="2609850"/>
            <a:ext cx="619125" cy="523875"/>
          </a:xfrm>
          <a:prstGeom prst="rect">
            <a:avLst/>
          </a:prstGeom>
          <a:solidFill>
            <a:srgbClr val="FAF7EB"/>
          </a:solidFill>
          <a:ln/>
        </p:spPr>
      </p:sp>
      <p:sp>
        <p:nvSpPr>
          <p:cNvPr id="47" name="Text 45"/>
          <p:cNvSpPr/>
          <p:nvPr/>
        </p:nvSpPr>
        <p:spPr>
          <a:xfrm>
            <a:off x="1943100" y="2847975"/>
            <a:ext cx="61912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655F"/>
                </a:solidFill>
              </a:rPr>
              <a:t>B-03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943100" y="2981325"/>
            <a:ext cx="61912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13" dirty="0">
                <a:solidFill>
                  <a:srgbClr val="B8655F"/>
                </a:solidFill>
              </a:rPr>
              <a:t>occupied</a:t>
            </a:r>
            <a:endParaRPr lang="en-US" sz="413" dirty="0"/>
          </a:p>
        </p:txBody>
      </p:sp>
      <p:sp>
        <p:nvSpPr>
          <p:cNvPr id="49" name="Shape 47"/>
          <p:cNvSpPr/>
          <p:nvPr/>
        </p:nvSpPr>
        <p:spPr>
          <a:xfrm>
            <a:off x="2628900" y="2609850"/>
            <a:ext cx="619125" cy="523875"/>
          </a:xfrm>
          <a:prstGeom prst="rect">
            <a:avLst/>
          </a:prstGeom>
          <a:solidFill>
            <a:srgbClr val="FAF7EB"/>
          </a:solidFill>
          <a:ln/>
        </p:spPr>
      </p:sp>
      <p:sp>
        <p:nvSpPr>
          <p:cNvPr id="50" name="Text 48"/>
          <p:cNvSpPr/>
          <p:nvPr/>
        </p:nvSpPr>
        <p:spPr>
          <a:xfrm>
            <a:off x="2628900" y="2847975"/>
            <a:ext cx="61912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7373"/>
                </a:solidFill>
              </a:rPr>
              <a:t>B-04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2628900" y="2981325"/>
            <a:ext cx="61912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13" dirty="0">
                <a:solidFill>
                  <a:srgbClr val="117373"/>
                </a:solidFill>
              </a:rPr>
              <a:t>vacant</a:t>
            </a:r>
            <a:endParaRPr lang="en-US" sz="413" dirty="0"/>
          </a:p>
        </p:txBody>
      </p:sp>
      <p:sp>
        <p:nvSpPr>
          <p:cNvPr id="52" name="Shape 50"/>
          <p:cNvSpPr/>
          <p:nvPr/>
        </p:nvSpPr>
        <p:spPr>
          <a:xfrm>
            <a:off x="3314700" y="2609850"/>
            <a:ext cx="619125" cy="523875"/>
          </a:xfrm>
          <a:prstGeom prst="rect">
            <a:avLst/>
          </a:prstGeom>
          <a:solidFill>
            <a:srgbClr val="FAF7EB"/>
          </a:solidFill>
          <a:ln/>
        </p:spPr>
      </p:sp>
      <p:sp>
        <p:nvSpPr>
          <p:cNvPr id="53" name="Text 51"/>
          <p:cNvSpPr/>
          <p:nvPr/>
        </p:nvSpPr>
        <p:spPr>
          <a:xfrm>
            <a:off x="3314700" y="2847975"/>
            <a:ext cx="61912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655F"/>
                </a:solidFill>
              </a:rPr>
              <a:t>B-05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3314700" y="2981325"/>
            <a:ext cx="61912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13" dirty="0">
                <a:solidFill>
                  <a:srgbClr val="B8655F"/>
                </a:solidFill>
              </a:rPr>
              <a:t>occupied</a:t>
            </a:r>
            <a:endParaRPr lang="en-US" sz="413" dirty="0"/>
          </a:p>
        </p:txBody>
      </p:sp>
      <p:sp>
        <p:nvSpPr>
          <p:cNvPr id="55" name="Shape 53"/>
          <p:cNvSpPr/>
          <p:nvPr/>
        </p:nvSpPr>
        <p:spPr>
          <a:xfrm>
            <a:off x="4000500" y="2609850"/>
            <a:ext cx="619125" cy="523875"/>
          </a:xfrm>
          <a:prstGeom prst="rect">
            <a:avLst/>
          </a:prstGeom>
          <a:solidFill>
            <a:srgbClr val="FAF7EB"/>
          </a:solidFill>
          <a:ln/>
        </p:spPr>
      </p:sp>
      <p:sp>
        <p:nvSpPr>
          <p:cNvPr id="56" name="Text 54"/>
          <p:cNvSpPr/>
          <p:nvPr/>
        </p:nvSpPr>
        <p:spPr>
          <a:xfrm>
            <a:off x="4000500" y="2847975"/>
            <a:ext cx="61912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655F"/>
                </a:solidFill>
              </a:rPr>
              <a:t>B-06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4000500" y="2981325"/>
            <a:ext cx="61912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13" dirty="0">
                <a:solidFill>
                  <a:srgbClr val="B8655F"/>
                </a:solidFill>
              </a:rPr>
              <a:t>occupied</a:t>
            </a:r>
            <a:endParaRPr lang="en-US" sz="413" dirty="0"/>
          </a:p>
        </p:txBody>
      </p:sp>
      <p:sp>
        <p:nvSpPr>
          <p:cNvPr id="58" name="Shape 56"/>
          <p:cNvSpPr/>
          <p:nvPr/>
        </p:nvSpPr>
        <p:spPr>
          <a:xfrm>
            <a:off x="4686300" y="2609850"/>
            <a:ext cx="619125" cy="523875"/>
          </a:xfrm>
          <a:prstGeom prst="rect">
            <a:avLst/>
          </a:prstGeom>
          <a:solidFill>
            <a:srgbClr val="FAF7EB"/>
          </a:solidFill>
          <a:ln/>
        </p:spPr>
      </p:sp>
      <p:sp>
        <p:nvSpPr>
          <p:cNvPr id="59" name="Text 57"/>
          <p:cNvSpPr/>
          <p:nvPr/>
        </p:nvSpPr>
        <p:spPr>
          <a:xfrm>
            <a:off x="4686300" y="2847975"/>
            <a:ext cx="61912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655F"/>
                </a:solidFill>
              </a:rPr>
              <a:t>B-07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4686300" y="2981325"/>
            <a:ext cx="61912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13" dirty="0">
                <a:solidFill>
                  <a:srgbClr val="B8655F"/>
                </a:solidFill>
              </a:rPr>
              <a:t>occupied</a:t>
            </a:r>
            <a:endParaRPr lang="en-US" sz="413" dirty="0"/>
          </a:p>
        </p:txBody>
      </p:sp>
      <p:sp>
        <p:nvSpPr>
          <p:cNvPr id="61" name="Shape 59"/>
          <p:cNvSpPr/>
          <p:nvPr/>
        </p:nvSpPr>
        <p:spPr>
          <a:xfrm>
            <a:off x="5372100" y="2609850"/>
            <a:ext cx="619125" cy="523875"/>
          </a:xfrm>
          <a:prstGeom prst="rect">
            <a:avLst/>
          </a:prstGeom>
          <a:solidFill>
            <a:srgbClr val="FAF7EB"/>
          </a:solidFill>
          <a:ln/>
        </p:spPr>
      </p:sp>
      <p:sp>
        <p:nvSpPr>
          <p:cNvPr id="62" name="Text 60"/>
          <p:cNvSpPr/>
          <p:nvPr/>
        </p:nvSpPr>
        <p:spPr>
          <a:xfrm>
            <a:off x="5372100" y="2847975"/>
            <a:ext cx="61912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7373"/>
                </a:solidFill>
              </a:rPr>
              <a:t>B-08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5372100" y="2981325"/>
            <a:ext cx="61912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13" dirty="0">
                <a:solidFill>
                  <a:srgbClr val="117373"/>
                </a:solidFill>
              </a:rPr>
              <a:t>vacant</a:t>
            </a:r>
            <a:endParaRPr lang="en-US" sz="413" dirty="0"/>
          </a:p>
        </p:txBody>
      </p:sp>
      <p:sp>
        <p:nvSpPr>
          <p:cNvPr id="64" name="Shape 62"/>
          <p:cNvSpPr/>
          <p:nvPr/>
        </p:nvSpPr>
        <p:spPr>
          <a:xfrm>
            <a:off x="6267450" y="1752600"/>
            <a:ext cx="2305050" cy="2857500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65" name="Text 63"/>
          <p:cNvSpPr/>
          <p:nvPr/>
        </p:nvSpPr>
        <p:spPr>
          <a:xfrm>
            <a:off x="6438900" y="1866900"/>
            <a:ext cx="22479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8" dirty="0">
                <a:solidFill>
                  <a:srgbClr val="F2C300"/>
                </a:solidFill>
              </a:rPr>
              <a:t>Live Event Log</a:t>
            </a:r>
            <a:endParaRPr lang="en-US" sz="488" dirty="0"/>
          </a:p>
        </p:txBody>
      </p:sp>
      <p:sp>
        <p:nvSpPr>
          <p:cNvPr id="66" name="Shape 64"/>
          <p:cNvSpPr/>
          <p:nvPr/>
        </p:nvSpPr>
        <p:spPr>
          <a:xfrm>
            <a:off x="6438900" y="2009775"/>
            <a:ext cx="228600" cy="9525"/>
          </a:xfrm>
          <a:prstGeom prst="rect">
            <a:avLst/>
          </a:prstGeom>
          <a:solidFill>
            <a:srgbClr val="F2C300"/>
          </a:solidFill>
          <a:ln/>
        </p:spPr>
      </p:sp>
      <p:sp>
        <p:nvSpPr>
          <p:cNvPr id="67" name="Text 65"/>
          <p:cNvSpPr/>
          <p:nvPr/>
        </p:nvSpPr>
        <p:spPr>
          <a:xfrm>
            <a:off x="6438900" y="2152650"/>
            <a:ext cx="2000250" cy="9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7" dirty="0">
                <a:solidFill>
                  <a:srgbClr val="B0B7BE"/>
                </a:solidFill>
              </a:rPr>
              <a:t>10:45:02 · Slot B03 → OCCUPIED</a:t>
            </a:r>
            <a:endParaRPr lang="en-US" sz="637" dirty="0"/>
          </a:p>
        </p:txBody>
      </p:sp>
      <p:sp>
        <p:nvSpPr>
          <p:cNvPr id="68" name="Text 66"/>
          <p:cNvSpPr/>
          <p:nvPr/>
        </p:nvSpPr>
        <p:spPr>
          <a:xfrm>
            <a:off x="6438900" y="2371725"/>
            <a:ext cx="2000250" cy="9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7" dirty="0">
                <a:solidFill>
                  <a:srgbClr val="B0B7BE"/>
                </a:solidFill>
              </a:rPr>
              <a:t>10:44:58 · Slot A07 → VACANT</a:t>
            </a:r>
            <a:endParaRPr lang="en-US" sz="637" dirty="0"/>
          </a:p>
        </p:txBody>
      </p:sp>
      <p:sp>
        <p:nvSpPr>
          <p:cNvPr id="69" name="Text 67"/>
          <p:cNvSpPr/>
          <p:nvPr/>
        </p:nvSpPr>
        <p:spPr>
          <a:xfrm>
            <a:off x="6438900" y="2590800"/>
            <a:ext cx="2000250" cy="9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7" dirty="0">
                <a:solidFill>
                  <a:srgbClr val="B0B7BE"/>
                </a:solidFill>
              </a:rPr>
              <a:t>10:43:15 · Slot A01 → OCCUPIED</a:t>
            </a:r>
            <a:endParaRPr lang="en-US" sz="637" dirty="0"/>
          </a:p>
        </p:txBody>
      </p:sp>
      <p:sp>
        <p:nvSpPr>
          <p:cNvPr id="70" name="Text 68"/>
          <p:cNvSpPr/>
          <p:nvPr/>
        </p:nvSpPr>
        <p:spPr>
          <a:xfrm>
            <a:off x="6438900" y="2809875"/>
            <a:ext cx="2000250" cy="9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7" dirty="0">
                <a:solidFill>
                  <a:srgbClr val="B0B7BE"/>
                </a:solidFill>
              </a:rPr>
              <a:t>10:42:50 · Slot A04 → OCCUPIED</a:t>
            </a:r>
            <a:endParaRPr lang="en-US" sz="637" dirty="0"/>
          </a:p>
        </p:txBody>
      </p:sp>
      <p:sp>
        <p:nvSpPr>
          <p:cNvPr id="71" name="Text 69"/>
          <p:cNvSpPr/>
          <p:nvPr/>
        </p:nvSpPr>
        <p:spPr>
          <a:xfrm>
            <a:off x="6438900" y="3028950"/>
            <a:ext cx="2000250" cy="9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7" dirty="0">
                <a:solidFill>
                  <a:srgbClr val="B0B7BE"/>
                </a:solidFill>
              </a:rPr>
              <a:t>10:42:10 · System check → ALL OK</a:t>
            </a:r>
            <a:endParaRPr lang="en-US" sz="637" dirty="0"/>
          </a:p>
        </p:txBody>
      </p:sp>
      <p:sp>
        <p:nvSpPr>
          <p:cNvPr id="72" name="Text 70"/>
          <p:cNvSpPr/>
          <p:nvPr/>
        </p:nvSpPr>
        <p:spPr>
          <a:xfrm>
            <a:off x="6438900" y="3248025"/>
            <a:ext cx="2000250" cy="9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7" dirty="0">
                <a:solidFill>
                  <a:srgbClr val="B0B7BE"/>
                </a:solidFill>
              </a:rPr>
              <a:t>10:41:33 · Slot B05 → OCCUPIED</a:t>
            </a:r>
            <a:endParaRPr lang="en-US" sz="637" dirty="0"/>
          </a:p>
        </p:txBody>
      </p:sp>
      <p:sp>
        <p:nvSpPr>
          <p:cNvPr id="73" name="Text 71"/>
          <p:cNvSpPr/>
          <p:nvPr/>
        </p:nvSpPr>
        <p:spPr>
          <a:xfrm>
            <a:off x="6438900" y="3467100"/>
            <a:ext cx="2000250" cy="9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7" dirty="0">
                <a:solidFill>
                  <a:srgbClr val="B0B7BE"/>
                </a:solidFill>
              </a:rPr>
              <a:t>10:41:02 · Slot B06 → OCCUPIED</a:t>
            </a:r>
            <a:endParaRPr lang="en-US" sz="637" dirty="0"/>
          </a:p>
        </p:txBody>
      </p:sp>
      <p:sp>
        <p:nvSpPr>
          <p:cNvPr id="74" name="Text 72"/>
          <p:cNvSpPr/>
          <p:nvPr/>
        </p:nvSpPr>
        <p:spPr>
          <a:xfrm>
            <a:off x="6438900" y="3686175"/>
            <a:ext cx="2000250" cy="9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7" dirty="0">
                <a:solidFill>
                  <a:srgbClr val="B0B7BE"/>
                </a:solidFill>
              </a:rPr>
              <a:t>10:40:31 · Slot B07 → OCCUPIED</a:t>
            </a:r>
            <a:endParaRPr lang="en-US" sz="637" dirty="0"/>
          </a:p>
        </p:txBody>
      </p:sp>
      <p:sp>
        <p:nvSpPr>
          <p:cNvPr id="75" name="Text 73"/>
          <p:cNvSpPr/>
          <p:nvPr/>
        </p:nvSpPr>
        <p:spPr>
          <a:xfrm>
            <a:off x="6553200" y="4171950"/>
            <a:ext cx="213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ECE7D8"/>
                </a:solidFill>
              </a:rPr>
              <a:t>vacant</a:t>
            </a:r>
            <a:endParaRPr lang="en-US" sz="675" dirty="0"/>
          </a:p>
        </p:txBody>
      </p:sp>
      <p:sp>
        <p:nvSpPr>
          <p:cNvPr id="76" name="Text 74"/>
          <p:cNvSpPr/>
          <p:nvPr/>
        </p:nvSpPr>
        <p:spPr>
          <a:xfrm>
            <a:off x="7162800" y="4171950"/>
            <a:ext cx="152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ECE7D8"/>
                </a:solidFill>
              </a:rPr>
              <a:t>occupied</a:t>
            </a:r>
            <a:endParaRPr lang="en-US" sz="675" dirty="0"/>
          </a:p>
        </p:txBody>
      </p:sp>
      <p:sp>
        <p:nvSpPr>
          <p:cNvPr id="77" name="Text 75"/>
          <p:cNvSpPr/>
          <p:nvPr/>
        </p:nvSpPr>
        <p:spPr>
          <a:xfrm>
            <a:off x="8667750" y="4962525"/>
            <a:ext cx="2857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25" dirty="0">
                <a:solidFill>
                  <a:srgbClr val="4D5663"/>
                </a:solidFill>
              </a:rPr>
              <a:t>10</a:t>
            </a:r>
            <a:endParaRPr lang="en-US" sz="525" dirty="0"/>
          </a:p>
        </p:txBody>
      </p:sp>
      <p:sp>
        <p:nvSpPr>
          <p:cNvPr id="78" name="Shape 76"/>
          <p:cNvSpPr/>
          <p:nvPr/>
        </p:nvSpPr>
        <p:spPr>
          <a:xfrm>
            <a:off x="8248650" y="5000625"/>
            <a:ext cx="371475" cy="9525"/>
          </a:xfrm>
          <a:prstGeom prst="rect">
            <a:avLst/>
          </a:prstGeom>
          <a:solidFill>
            <a:srgbClr val="14253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E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57200"/>
            <a:ext cx="81153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5" dirty="0">
                <a:solidFill>
                  <a:srgbClr val="4D5663"/>
                </a:solidFill>
              </a:rPr>
              <a:t>06 — Objectives</a:t>
            </a:r>
            <a:endParaRPr lang="en-US" sz="525" dirty="0"/>
          </a:p>
        </p:txBody>
      </p:sp>
      <p:sp>
        <p:nvSpPr>
          <p:cNvPr id="3" name="Shape 1"/>
          <p:cNvSpPr/>
          <p:nvPr/>
        </p:nvSpPr>
        <p:spPr>
          <a:xfrm>
            <a:off x="571500" y="619125"/>
            <a:ext cx="266700" cy="14288"/>
          </a:xfrm>
          <a:prstGeom prst="rect">
            <a:avLst/>
          </a:prstGeom>
          <a:solidFill>
            <a:srgbClr val="F2C300"/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752475"/>
            <a:ext cx="7048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4253F"/>
                </a:solidFill>
              </a:rPr>
              <a:t>PARKORA Objectives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71500" y="1247775"/>
            <a:ext cx="7048500" cy="6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D5663"/>
                </a:solidFill>
              </a:rPr>
              <a:t>Five realistic engineering targets the prototype is engineered against — no marketing flourishes.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96000" y="762000"/>
            <a:ext cx="2476500" cy="952500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0" y="762000"/>
            <a:ext cx="28575" cy="952500"/>
          </a:xfrm>
          <a:prstGeom prst="rect">
            <a:avLst/>
          </a:prstGeom>
          <a:solidFill>
            <a:srgbClr val="F2C300"/>
          </a:solidFill>
          <a:ln/>
        </p:spPr>
      </p:sp>
      <p:sp>
        <p:nvSpPr>
          <p:cNvPr id="8" name="Text 6"/>
          <p:cNvSpPr/>
          <p:nvPr/>
        </p:nvSpPr>
        <p:spPr>
          <a:xfrm>
            <a:off x="6267450" y="895350"/>
            <a:ext cx="24193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8" dirty="0">
                <a:solidFill>
                  <a:srgbClr val="F2C300"/>
                </a:solidFill>
              </a:rPr>
              <a:t>Targets</a:t>
            </a:r>
            <a:endParaRPr lang="en-US" sz="488" dirty="0"/>
          </a:p>
        </p:txBody>
      </p:sp>
      <p:sp>
        <p:nvSpPr>
          <p:cNvPr id="9" name="Text 7"/>
          <p:cNvSpPr/>
          <p:nvPr/>
        </p:nvSpPr>
        <p:spPr>
          <a:xfrm>
            <a:off x="6267450" y="1085850"/>
            <a:ext cx="21907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CE7D8"/>
                </a:solidFill>
              </a:rPr>
              <a:t>Each objective maps to a feature of the prototype and to a measurable behavior of the system.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71500" y="1809750"/>
            <a:ext cx="3905250" cy="952500"/>
          </a:xfrm>
          <a:prstGeom prst="rect">
            <a:avLst/>
          </a:prstGeom>
          <a:solidFill>
            <a:srgbClr val="F4F0E2"/>
          </a:solidFill>
          <a:ln/>
        </p:spPr>
      </p:sp>
      <p:sp>
        <p:nvSpPr>
          <p:cNvPr id="11" name="Shape 9"/>
          <p:cNvSpPr/>
          <p:nvPr/>
        </p:nvSpPr>
        <p:spPr>
          <a:xfrm>
            <a:off x="571500" y="1809750"/>
            <a:ext cx="19050" cy="952500"/>
          </a:xfrm>
          <a:prstGeom prst="rect">
            <a:avLst/>
          </a:prstGeom>
          <a:solidFill>
            <a:srgbClr val="F2C300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962150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5" dirty="0">
                <a:solidFill>
                  <a:srgbClr val="4D5663"/>
                </a:solidFill>
              </a:rPr>
              <a:t>01</a:t>
            </a:r>
            <a:endParaRPr lang="en-US" sz="525" dirty="0"/>
          </a:p>
        </p:txBody>
      </p:sp>
      <p:sp>
        <p:nvSpPr>
          <p:cNvPr id="13" name="Text 11"/>
          <p:cNvSpPr/>
          <p:nvPr/>
        </p:nvSpPr>
        <p:spPr>
          <a:xfrm>
            <a:off x="1143000" y="1971675"/>
            <a:ext cx="31432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F"/>
                </a:solidFill>
              </a:rPr>
              <a:t>Detect vehicle presence in individual parking slots using IoT sensors.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7250" y="1809750"/>
            <a:ext cx="3905250" cy="952500"/>
          </a:xfrm>
          <a:prstGeom prst="rect">
            <a:avLst/>
          </a:prstGeom>
          <a:solidFill>
            <a:srgbClr val="F4F0E2"/>
          </a:solidFill>
          <a:ln/>
        </p:spPr>
      </p:sp>
      <p:sp>
        <p:nvSpPr>
          <p:cNvPr id="15" name="Shape 13"/>
          <p:cNvSpPr/>
          <p:nvPr/>
        </p:nvSpPr>
        <p:spPr>
          <a:xfrm>
            <a:off x="4667250" y="1809750"/>
            <a:ext cx="19050" cy="952500"/>
          </a:xfrm>
          <a:prstGeom prst="rect">
            <a:avLst/>
          </a:prstGeom>
          <a:solidFill>
            <a:srgbClr val="117373"/>
          </a:solidFill>
          <a:ln/>
        </p:spPr>
      </p:sp>
      <p:sp>
        <p:nvSpPr>
          <p:cNvPr id="16" name="Text 14"/>
          <p:cNvSpPr/>
          <p:nvPr/>
        </p:nvSpPr>
        <p:spPr>
          <a:xfrm>
            <a:off x="4857750" y="1962150"/>
            <a:ext cx="38290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5" dirty="0">
                <a:solidFill>
                  <a:srgbClr val="4D5663"/>
                </a:solidFill>
              </a:rPr>
              <a:t>02</a:t>
            </a:r>
            <a:endParaRPr lang="en-US" sz="525" dirty="0"/>
          </a:p>
        </p:txBody>
      </p:sp>
      <p:sp>
        <p:nvSpPr>
          <p:cNvPr id="17" name="Text 15"/>
          <p:cNvSpPr/>
          <p:nvPr/>
        </p:nvSpPr>
        <p:spPr>
          <a:xfrm>
            <a:off x="5238750" y="1971675"/>
            <a:ext cx="31432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F"/>
                </a:solidFill>
              </a:rPr>
              <a:t>Display real-time parking availability via a centralized dashboard.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71500" y="2857500"/>
            <a:ext cx="3905250" cy="952500"/>
          </a:xfrm>
          <a:prstGeom prst="rect">
            <a:avLst/>
          </a:prstGeom>
          <a:solidFill>
            <a:srgbClr val="F4F0E2"/>
          </a:solidFill>
          <a:ln/>
        </p:spPr>
      </p:sp>
      <p:sp>
        <p:nvSpPr>
          <p:cNvPr id="19" name="Shape 17"/>
          <p:cNvSpPr/>
          <p:nvPr/>
        </p:nvSpPr>
        <p:spPr>
          <a:xfrm>
            <a:off x="571500" y="2857500"/>
            <a:ext cx="19050" cy="952500"/>
          </a:xfrm>
          <a:prstGeom prst="rect">
            <a:avLst/>
          </a:prstGeom>
          <a:solidFill>
            <a:srgbClr val="F2C300"/>
          </a:solidFill>
          <a:ln/>
        </p:spPr>
      </p:sp>
      <p:sp>
        <p:nvSpPr>
          <p:cNvPr id="20" name="Text 18"/>
          <p:cNvSpPr/>
          <p:nvPr/>
        </p:nvSpPr>
        <p:spPr>
          <a:xfrm>
            <a:off x="762000" y="3009900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5" dirty="0">
                <a:solidFill>
                  <a:srgbClr val="4D5663"/>
                </a:solidFill>
              </a:rPr>
              <a:t>03</a:t>
            </a:r>
            <a:endParaRPr lang="en-US" sz="525" dirty="0"/>
          </a:p>
        </p:txBody>
      </p:sp>
      <p:sp>
        <p:nvSpPr>
          <p:cNvPr id="21" name="Text 19"/>
          <p:cNvSpPr/>
          <p:nvPr/>
        </p:nvSpPr>
        <p:spPr>
          <a:xfrm>
            <a:off x="1143000" y="3019425"/>
            <a:ext cx="31432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F"/>
                </a:solidFill>
              </a:rPr>
              <a:t>Provide floor-wise and slot-wise parking information for efficient monitoring.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7250" y="2857500"/>
            <a:ext cx="3905250" cy="952500"/>
          </a:xfrm>
          <a:prstGeom prst="rect">
            <a:avLst/>
          </a:prstGeom>
          <a:solidFill>
            <a:srgbClr val="F4F0E2"/>
          </a:solidFill>
          <a:ln/>
        </p:spPr>
      </p:sp>
      <p:sp>
        <p:nvSpPr>
          <p:cNvPr id="23" name="Shape 21"/>
          <p:cNvSpPr/>
          <p:nvPr/>
        </p:nvSpPr>
        <p:spPr>
          <a:xfrm>
            <a:off x="4667250" y="2857500"/>
            <a:ext cx="19050" cy="952500"/>
          </a:xfrm>
          <a:prstGeom prst="rect">
            <a:avLst/>
          </a:prstGeom>
          <a:solidFill>
            <a:srgbClr val="117373"/>
          </a:solidFill>
          <a:ln/>
        </p:spPr>
      </p:sp>
      <p:sp>
        <p:nvSpPr>
          <p:cNvPr id="24" name="Text 22"/>
          <p:cNvSpPr/>
          <p:nvPr/>
        </p:nvSpPr>
        <p:spPr>
          <a:xfrm>
            <a:off x="4857750" y="3009900"/>
            <a:ext cx="38290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5" dirty="0">
                <a:solidFill>
                  <a:srgbClr val="4D5663"/>
                </a:solidFill>
              </a:rPr>
              <a:t>04</a:t>
            </a:r>
            <a:endParaRPr lang="en-US" sz="525" dirty="0"/>
          </a:p>
        </p:txBody>
      </p:sp>
      <p:sp>
        <p:nvSpPr>
          <p:cNvPr id="25" name="Text 23"/>
          <p:cNvSpPr/>
          <p:nvPr/>
        </p:nvSpPr>
        <p:spPr>
          <a:xfrm>
            <a:off x="5238750" y="3019425"/>
            <a:ext cx="31432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F"/>
                </a:solidFill>
              </a:rPr>
              <a:t>Assist security personnel in directing vehicles to the nearest vacant spots.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71500" y="3905250"/>
            <a:ext cx="8001000" cy="762000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27" name="Shape 25"/>
          <p:cNvSpPr/>
          <p:nvPr/>
        </p:nvSpPr>
        <p:spPr>
          <a:xfrm>
            <a:off x="571500" y="3905250"/>
            <a:ext cx="8001000" cy="19050"/>
          </a:xfrm>
          <a:prstGeom prst="rect">
            <a:avLst/>
          </a:prstGeom>
          <a:solidFill>
            <a:srgbClr val="F2C300"/>
          </a:solidFill>
          <a:ln/>
        </p:spPr>
      </p:sp>
      <p:sp>
        <p:nvSpPr>
          <p:cNvPr id="28" name="Text 26"/>
          <p:cNvSpPr/>
          <p:nvPr/>
        </p:nvSpPr>
        <p:spPr>
          <a:xfrm>
            <a:off x="762000" y="4067175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5" dirty="0">
                <a:solidFill>
                  <a:srgbClr val="F2C300"/>
                </a:solidFill>
              </a:rPr>
              <a:t>05</a:t>
            </a:r>
            <a:endParaRPr lang="en-US" sz="525" dirty="0"/>
          </a:p>
        </p:txBody>
      </p:sp>
      <p:sp>
        <p:nvSpPr>
          <p:cNvPr id="29" name="Text 27"/>
          <p:cNvSpPr/>
          <p:nvPr/>
        </p:nvSpPr>
        <p:spPr>
          <a:xfrm>
            <a:off x="1143000" y="4086225"/>
            <a:ext cx="71437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ECE7D8"/>
                </a:solidFill>
              </a:rPr>
              <a:t>Reduce unnecessary vehicle movement and parking search time within the facility.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8667750" y="4810125"/>
            <a:ext cx="2857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25" dirty="0">
                <a:solidFill>
                  <a:srgbClr val="4D5663"/>
                </a:solidFill>
              </a:rPr>
              <a:t>06</a:t>
            </a:r>
            <a:endParaRPr lang="en-US" sz="525" dirty="0"/>
          </a:p>
        </p:txBody>
      </p:sp>
      <p:sp>
        <p:nvSpPr>
          <p:cNvPr id="31" name="Shape 29"/>
          <p:cNvSpPr/>
          <p:nvPr/>
        </p:nvSpPr>
        <p:spPr>
          <a:xfrm>
            <a:off x="8248650" y="4848225"/>
            <a:ext cx="371475" cy="9525"/>
          </a:xfrm>
          <a:prstGeom prst="rect">
            <a:avLst/>
          </a:prstGeom>
          <a:solidFill>
            <a:srgbClr val="14253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E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57200"/>
            <a:ext cx="81153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5" dirty="0">
                <a:solidFill>
                  <a:srgbClr val="4D5663"/>
                </a:solidFill>
              </a:rPr>
              <a:t>11 — Prototype</a:t>
            </a:r>
            <a:endParaRPr lang="en-US" sz="525" dirty="0"/>
          </a:p>
        </p:txBody>
      </p:sp>
      <p:sp>
        <p:nvSpPr>
          <p:cNvPr id="3" name="Shape 1"/>
          <p:cNvSpPr/>
          <p:nvPr/>
        </p:nvSpPr>
        <p:spPr>
          <a:xfrm>
            <a:off x="571500" y="619125"/>
            <a:ext cx="266700" cy="14288"/>
          </a:xfrm>
          <a:prstGeom prst="rect">
            <a:avLst/>
          </a:prstGeom>
          <a:solidFill>
            <a:srgbClr val="F2C300"/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752475"/>
            <a:ext cx="7048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4253F"/>
                </a:solidFill>
              </a:rPr>
              <a:t>Prototype &amp; Hardware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71500" y="1247775"/>
            <a:ext cx="7048500" cy="6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D5663"/>
                </a:solidFill>
              </a:rPr>
              <a:t>Conceptual layout of the 16-slot lot next to three photo slots that will carry the real build photographs.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71500" y="1619250"/>
            <a:ext cx="4762500" cy="3143250"/>
          </a:xfrm>
          <a:prstGeom prst="rect">
            <a:avLst/>
          </a:prstGeom>
          <a:solidFill>
            <a:srgbClr val="F4F0E2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752600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5" dirty="0">
                <a:solidFill>
                  <a:srgbClr val="4D5663"/>
                </a:solidFill>
              </a:rPr>
              <a:t>Layout · Top view</a:t>
            </a:r>
            <a:endParaRPr lang="en-US" sz="525" dirty="0"/>
          </a:p>
        </p:txBody>
      </p:sp>
      <p:sp>
        <p:nvSpPr>
          <p:cNvPr id="8" name="Shape 6"/>
          <p:cNvSpPr/>
          <p:nvPr/>
        </p:nvSpPr>
        <p:spPr>
          <a:xfrm>
            <a:off x="762000" y="1914525"/>
            <a:ext cx="228600" cy="14288"/>
          </a:xfrm>
          <a:prstGeom prst="rect">
            <a:avLst/>
          </a:prstGeom>
          <a:solidFill>
            <a:srgbClr val="F2C300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2057400"/>
            <a:ext cx="10477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8" dirty="0">
                <a:solidFill>
                  <a:srgbClr val="14253F"/>
                </a:solidFill>
              </a:rPr>
              <a:t>Entry</a:t>
            </a:r>
            <a:endParaRPr lang="en-US" sz="488" dirty="0"/>
          </a:p>
        </p:txBody>
      </p:sp>
      <p:sp>
        <p:nvSpPr>
          <p:cNvPr id="10" name="Shape 8"/>
          <p:cNvSpPr/>
          <p:nvPr/>
        </p:nvSpPr>
        <p:spPr>
          <a:xfrm>
            <a:off x="762000" y="2247900"/>
            <a:ext cx="952500" cy="14288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2428875"/>
            <a:ext cx="381000" cy="428625"/>
          </a:xfrm>
          <a:prstGeom prst="rect">
            <a:avLst/>
          </a:prstGeom>
          <a:solidFill>
            <a:srgbClr val="FAF7EB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2571750"/>
            <a:ext cx="381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" dirty="0">
                <a:solidFill>
                  <a:srgbClr val="B8655F"/>
                </a:solidFill>
              </a:rPr>
              <a:t>A-01</a:t>
            </a:r>
            <a:endParaRPr lang="en-US" sz="450" dirty="0"/>
          </a:p>
        </p:txBody>
      </p:sp>
      <p:sp>
        <p:nvSpPr>
          <p:cNvPr id="13" name="Shape 11"/>
          <p:cNvSpPr/>
          <p:nvPr/>
        </p:nvSpPr>
        <p:spPr>
          <a:xfrm>
            <a:off x="933450" y="2724150"/>
            <a:ext cx="38100" cy="38100"/>
          </a:xfrm>
          <a:prstGeom prst="rect">
            <a:avLst/>
          </a:prstGeom>
          <a:solidFill>
            <a:srgbClr val="B8655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09675" y="2428875"/>
            <a:ext cx="381000" cy="428625"/>
          </a:xfrm>
          <a:prstGeom prst="rect">
            <a:avLst/>
          </a:prstGeom>
          <a:solidFill>
            <a:srgbClr val="FAF7EB"/>
          </a:solidFill>
          <a:ln/>
        </p:spPr>
      </p:sp>
      <p:sp>
        <p:nvSpPr>
          <p:cNvPr id="15" name="Text 13"/>
          <p:cNvSpPr/>
          <p:nvPr/>
        </p:nvSpPr>
        <p:spPr>
          <a:xfrm>
            <a:off x="1209675" y="2571750"/>
            <a:ext cx="381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" dirty="0">
                <a:solidFill>
                  <a:srgbClr val="117373"/>
                </a:solidFill>
              </a:rPr>
              <a:t>A-02</a:t>
            </a:r>
            <a:endParaRPr lang="en-US" sz="450" dirty="0"/>
          </a:p>
        </p:txBody>
      </p:sp>
      <p:sp>
        <p:nvSpPr>
          <p:cNvPr id="16" name="Shape 14"/>
          <p:cNvSpPr/>
          <p:nvPr/>
        </p:nvSpPr>
        <p:spPr>
          <a:xfrm>
            <a:off x="1381125" y="2724150"/>
            <a:ext cx="38100" cy="38100"/>
          </a:xfrm>
          <a:prstGeom prst="rect">
            <a:avLst/>
          </a:prstGeom>
          <a:solidFill>
            <a:srgbClr val="117373"/>
          </a:solidFill>
          <a:ln/>
        </p:spPr>
      </p:sp>
      <p:sp>
        <p:nvSpPr>
          <p:cNvPr id="17" name="Shape 15"/>
          <p:cNvSpPr/>
          <p:nvPr/>
        </p:nvSpPr>
        <p:spPr>
          <a:xfrm>
            <a:off x="1657350" y="2428875"/>
            <a:ext cx="381000" cy="428625"/>
          </a:xfrm>
          <a:prstGeom prst="rect">
            <a:avLst/>
          </a:prstGeom>
          <a:solidFill>
            <a:srgbClr val="FAF7EB"/>
          </a:solidFill>
          <a:ln/>
        </p:spPr>
      </p:sp>
      <p:sp>
        <p:nvSpPr>
          <p:cNvPr id="18" name="Text 16"/>
          <p:cNvSpPr/>
          <p:nvPr/>
        </p:nvSpPr>
        <p:spPr>
          <a:xfrm>
            <a:off x="1657350" y="2571750"/>
            <a:ext cx="381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" dirty="0">
                <a:solidFill>
                  <a:srgbClr val="117373"/>
                </a:solidFill>
              </a:rPr>
              <a:t>A-03</a:t>
            </a:r>
            <a:endParaRPr lang="en-US" sz="450" dirty="0"/>
          </a:p>
        </p:txBody>
      </p:sp>
      <p:sp>
        <p:nvSpPr>
          <p:cNvPr id="19" name="Shape 17"/>
          <p:cNvSpPr/>
          <p:nvPr/>
        </p:nvSpPr>
        <p:spPr>
          <a:xfrm>
            <a:off x="1828800" y="2724150"/>
            <a:ext cx="38100" cy="38100"/>
          </a:xfrm>
          <a:prstGeom prst="rect">
            <a:avLst/>
          </a:prstGeom>
          <a:solidFill>
            <a:srgbClr val="117373"/>
          </a:solidFill>
          <a:ln/>
        </p:spPr>
      </p:sp>
      <p:sp>
        <p:nvSpPr>
          <p:cNvPr id="20" name="Shape 18"/>
          <p:cNvSpPr/>
          <p:nvPr/>
        </p:nvSpPr>
        <p:spPr>
          <a:xfrm>
            <a:off x="2105025" y="2428875"/>
            <a:ext cx="381000" cy="428625"/>
          </a:xfrm>
          <a:prstGeom prst="rect">
            <a:avLst/>
          </a:prstGeom>
          <a:solidFill>
            <a:srgbClr val="FAF7EB"/>
          </a:solidFill>
          <a:ln/>
        </p:spPr>
      </p:sp>
      <p:sp>
        <p:nvSpPr>
          <p:cNvPr id="21" name="Text 19"/>
          <p:cNvSpPr/>
          <p:nvPr/>
        </p:nvSpPr>
        <p:spPr>
          <a:xfrm>
            <a:off x="2105025" y="2571750"/>
            <a:ext cx="381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" dirty="0">
                <a:solidFill>
                  <a:srgbClr val="B8655F"/>
                </a:solidFill>
              </a:rPr>
              <a:t>A-04</a:t>
            </a:r>
            <a:endParaRPr lang="en-US" sz="450" dirty="0"/>
          </a:p>
        </p:txBody>
      </p:sp>
      <p:sp>
        <p:nvSpPr>
          <p:cNvPr id="22" name="Shape 20"/>
          <p:cNvSpPr/>
          <p:nvPr/>
        </p:nvSpPr>
        <p:spPr>
          <a:xfrm>
            <a:off x="2276475" y="2724150"/>
            <a:ext cx="38100" cy="38100"/>
          </a:xfrm>
          <a:prstGeom prst="rect">
            <a:avLst/>
          </a:prstGeom>
          <a:solidFill>
            <a:srgbClr val="B8655F"/>
          </a:solidFill>
          <a:ln/>
        </p:spPr>
      </p:sp>
      <p:sp>
        <p:nvSpPr>
          <p:cNvPr id="23" name="Shape 21"/>
          <p:cNvSpPr/>
          <p:nvPr/>
        </p:nvSpPr>
        <p:spPr>
          <a:xfrm>
            <a:off x="2552700" y="2428875"/>
            <a:ext cx="381000" cy="428625"/>
          </a:xfrm>
          <a:prstGeom prst="rect">
            <a:avLst/>
          </a:prstGeom>
          <a:solidFill>
            <a:srgbClr val="FAF7EB"/>
          </a:solidFill>
          <a:ln/>
        </p:spPr>
      </p:sp>
      <p:sp>
        <p:nvSpPr>
          <p:cNvPr id="24" name="Text 22"/>
          <p:cNvSpPr/>
          <p:nvPr/>
        </p:nvSpPr>
        <p:spPr>
          <a:xfrm>
            <a:off x="2552700" y="2571750"/>
            <a:ext cx="381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" dirty="0">
                <a:solidFill>
                  <a:srgbClr val="117373"/>
                </a:solidFill>
              </a:rPr>
              <a:t>A-05</a:t>
            </a:r>
            <a:endParaRPr lang="en-US" sz="450" dirty="0"/>
          </a:p>
        </p:txBody>
      </p:sp>
      <p:sp>
        <p:nvSpPr>
          <p:cNvPr id="25" name="Shape 23"/>
          <p:cNvSpPr/>
          <p:nvPr/>
        </p:nvSpPr>
        <p:spPr>
          <a:xfrm>
            <a:off x="2724150" y="2724150"/>
            <a:ext cx="38100" cy="38100"/>
          </a:xfrm>
          <a:prstGeom prst="rect">
            <a:avLst/>
          </a:prstGeom>
          <a:solidFill>
            <a:srgbClr val="117373"/>
          </a:solidFill>
          <a:ln/>
        </p:spPr>
      </p:sp>
      <p:sp>
        <p:nvSpPr>
          <p:cNvPr id="26" name="Shape 24"/>
          <p:cNvSpPr/>
          <p:nvPr/>
        </p:nvSpPr>
        <p:spPr>
          <a:xfrm>
            <a:off x="3000375" y="2428875"/>
            <a:ext cx="381000" cy="428625"/>
          </a:xfrm>
          <a:prstGeom prst="rect">
            <a:avLst/>
          </a:prstGeom>
          <a:solidFill>
            <a:srgbClr val="FAF7EB"/>
          </a:solidFill>
          <a:ln/>
        </p:spPr>
      </p:sp>
      <p:sp>
        <p:nvSpPr>
          <p:cNvPr id="27" name="Text 25"/>
          <p:cNvSpPr/>
          <p:nvPr/>
        </p:nvSpPr>
        <p:spPr>
          <a:xfrm>
            <a:off x="3000375" y="2571750"/>
            <a:ext cx="381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" dirty="0">
                <a:solidFill>
                  <a:srgbClr val="117373"/>
                </a:solidFill>
              </a:rPr>
              <a:t>A-06</a:t>
            </a:r>
            <a:endParaRPr lang="en-US" sz="450" dirty="0"/>
          </a:p>
        </p:txBody>
      </p:sp>
      <p:sp>
        <p:nvSpPr>
          <p:cNvPr id="28" name="Shape 26"/>
          <p:cNvSpPr/>
          <p:nvPr/>
        </p:nvSpPr>
        <p:spPr>
          <a:xfrm>
            <a:off x="3171825" y="2724150"/>
            <a:ext cx="38100" cy="38100"/>
          </a:xfrm>
          <a:prstGeom prst="rect">
            <a:avLst/>
          </a:prstGeom>
          <a:solidFill>
            <a:srgbClr val="117373"/>
          </a:solidFill>
          <a:ln/>
        </p:spPr>
      </p:sp>
      <p:sp>
        <p:nvSpPr>
          <p:cNvPr id="29" name="Shape 27"/>
          <p:cNvSpPr/>
          <p:nvPr/>
        </p:nvSpPr>
        <p:spPr>
          <a:xfrm>
            <a:off x="3448050" y="2428875"/>
            <a:ext cx="381000" cy="428625"/>
          </a:xfrm>
          <a:prstGeom prst="rect">
            <a:avLst/>
          </a:prstGeom>
          <a:solidFill>
            <a:srgbClr val="FAF7EB"/>
          </a:solidFill>
          <a:ln/>
        </p:spPr>
      </p:sp>
      <p:sp>
        <p:nvSpPr>
          <p:cNvPr id="30" name="Text 28"/>
          <p:cNvSpPr/>
          <p:nvPr/>
        </p:nvSpPr>
        <p:spPr>
          <a:xfrm>
            <a:off x="3448050" y="2571750"/>
            <a:ext cx="381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" dirty="0">
                <a:solidFill>
                  <a:srgbClr val="117373"/>
                </a:solidFill>
              </a:rPr>
              <a:t>A-07</a:t>
            </a:r>
            <a:endParaRPr lang="en-US" sz="450" dirty="0"/>
          </a:p>
        </p:txBody>
      </p:sp>
      <p:sp>
        <p:nvSpPr>
          <p:cNvPr id="31" name="Shape 29"/>
          <p:cNvSpPr/>
          <p:nvPr/>
        </p:nvSpPr>
        <p:spPr>
          <a:xfrm>
            <a:off x="3619500" y="2724150"/>
            <a:ext cx="38100" cy="38100"/>
          </a:xfrm>
          <a:prstGeom prst="rect">
            <a:avLst/>
          </a:prstGeom>
          <a:solidFill>
            <a:srgbClr val="117373"/>
          </a:solidFill>
          <a:ln/>
        </p:spPr>
      </p:sp>
      <p:sp>
        <p:nvSpPr>
          <p:cNvPr id="32" name="Shape 30"/>
          <p:cNvSpPr/>
          <p:nvPr/>
        </p:nvSpPr>
        <p:spPr>
          <a:xfrm>
            <a:off x="3895725" y="2428875"/>
            <a:ext cx="381000" cy="428625"/>
          </a:xfrm>
          <a:prstGeom prst="rect">
            <a:avLst/>
          </a:prstGeom>
          <a:solidFill>
            <a:srgbClr val="FAF7EB"/>
          </a:solidFill>
          <a:ln/>
        </p:spPr>
      </p:sp>
      <p:sp>
        <p:nvSpPr>
          <p:cNvPr id="33" name="Text 31"/>
          <p:cNvSpPr/>
          <p:nvPr/>
        </p:nvSpPr>
        <p:spPr>
          <a:xfrm>
            <a:off x="3895725" y="2571750"/>
            <a:ext cx="381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" dirty="0">
                <a:solidFill>
                  <a:srgbClr val="117373"/>
                </a:solidFill>
              </a:rPr>
              <a:t>A-08</a:t>
            </a:r>
            <a:endParaRPr lang="en-US" sz="450" dirty="0"/>
          </a:p>
        </p:txBody>
      </p:sp>
      <p:sp>
        <p:nvSpPr>
          <p:cNvPr id="34" name="Shape 32"/>
          <p:cNvSpPr/>
          <p:nvPr/>
        </p:nvSpPr>
        <p:spPr>
          <a:xfrm>
            <a:off x="4067175" y="2724150"/>
            <a:ext cx="38100" cy="38100"/>
          </a:xfrm>
          <a:prstGeom prst="rect">
            <a:avLst/>
          </a:prstGeom>
          <a:solidFill>
            <a:srgbClr val="117373"/>
          </a:solidFill>
          <a:ln/>
        </p:spPr>
      </p:sp>
      <p:sp>
        <p:nvSpPr>
          <p:cNvPr id="35" name="Shape 33"/>
          <p:cNvSpPr/>
          <p:nvPr/>
        </p:nvSpPr>
        <p:spPr>
          <a:xfrm>
            <a:off x="762000" y="2943225"/>
            <a:ext cx="4381500" cy="4763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36" name="Text 34"/>
          <p:cNvSpPr/>
          <p:nvPr/>
        </p:nvSpPr>
        <p:spPr>
          <a:xfrm>
            <a:off x="762000" y="2971800"/>
            <a:ext cx="4381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4D5663"/>
                </a:solidFill>
              </a:rPr>
              <a:t>Drive lane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762000" y="3143250"/>
            <a:ext cx="381000" cy="428625"/>
          </a:xfrm>
          <a:prstGeom prst="rect">
            <a:avLst/>
          </a:prstGeom>
          <a:solidFill>
            <a:srgbClr val="FAF7EB"/>
          </a:solidFill>
          <a:ln/>
        </p:spPr>
      </p:sp>
      <p:sp>
        <p:nvSpPr>
          <p:cNvPr id="38" name="Text 36"/>
          <p:cNvSpPr/>
          <p:nvPr/>
        </p:nvSpPr>
        <p:spPr>
          <a:xfrm>
            <a:off x="762000" y="3286125"/>
            <a:ext cx="381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" dirty="0">
                <a:solidFill>
                  <a:srgbClr val="117373"/>
                </a:solidFill>
              </a:rPr>
              <a:t>B-01</a:t>
            </a:r>
            <a:endParaRPr lang="en-US" sz="450" dirty="0"/>
          </a:p>
        </p:txBody>
      </p:sp>
      <p:sp>
        <p:nvSpPr>
          <p:cNvPr id="39" name="Shape 37"/>
          <p:cNvSpPr/>
          <p:nvPr/>
        </p:nvSpPr>
        <p:spPr>
          <a:xfrm>
            <a:off x="933450" y="3438525"/>
            <a:ext cx="38100" cy="38100"/>
          </a:xfrm>
          <a:prstGeom prst="rect">
            <a:avLst/>
          </a:prstGeom>
          <a:solidFill>
            <a:srgbClr val="117373"/>
          </a:solidFill>
          <a:ln/>
        </p:spPr>
      </p:sp>
      <p:sp>
        <p:nvSpPr>
          <p:cNvPr id="40" name="Shape 38"/>
          <p:cNvSpPr/>
          <p:nvPr/>
        </p:nvSpPr>
        <p:spPr>
          <a:xfrm>
            <a:off x="1209675" y="3143250"/>
            <a:ext cx="381000" cy="428625"/>
          </a:xfrm>
          <a:prstGeom prst="rect">
            <a:avLst/>
          </a:prstGeom>
          <a:solidFill>
            <a:srgbClr val="FAF7EB"/>
          </a:solidFill>
          <a:ln/>
        </p:spPr>
      </p:sp>
      <p:sp>
        <p:nvSpPr>
          <p:cNvPr id="41" name="Text 39"/>
          <p:cNvSpPr/>
          <p:nvPr/>
        </p:nvSpPr>
        <p:spPr>
          <a:xfrm>
            <a:off x="1209675" y="3286125"/>
            <a:ext cx="381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" dirty="0">
                <a:solidFill>
                  <a:srgbClr val="117373"/>
                </a:solidFill>
              </a:rPr>
              <a:t>B-02</a:t>
            </a:r>
            <a:endParaRPr lang="en-US" sz="450" dirty="0"/>
          </a:p>
        </p:txBody>
      </p:sp>
      <p:sp>
        <p:nvSpPr>
          <p:cNvPr id="42" name="Shape 40"/>
          <p:cNvSpPr/>
          <p:nvPr/>
        </p:nvSpPr>
        <p:spPr>
          <a:xfrm>
            <a:off x="1381125" y="3438525"/>
            <a:ext cx="38100" cy="38100"/>
          </a:xfrm>
          <a:prstGeom prst="rect">
            <a:avLst/>
          </a:prstGeom>
          <a:solidFill>
            <a:srgbClr val="117373"/>
          </a:solidFill>
          <a:ln/>
        </p:spPr>
      </p:sp>
      <p:sp>
        <p:nvSpPr>
          <p:cNvPr id="43" name="Shape 41"/>
          <p:cNvSpPr/>
          <p:nvPr/>
        </p:nvSpPr>
        <p:spPr>
          <a:xfrm>
            <a:off x="1657350" y="3143250"/>
            <a:ext cx="381000" cy="428625"/>
          </a:xfrm>
          <a:prstGeom prst="rect">
            <a:avLst/>
          </a:prstGeom>
          <a:solidFill>
            <a:srgbClr val="FAF7EB"/>
          </a:solidFill>
          <a:ln/>
        </p:spPr>
      </p:sp>
      <p:sp>
        <p:nvSpPr>
          <p:cNvPr id="44" name="Text 42"/>
          <p:cNvSpPr/>
          <p:nvPr/>
        </p:nvSpPr>
        <p:spPr>
          <a:xfrm>
            <a:off x="1657350" y="3286125"/>
            <a:ext cx="381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" dirty="0">
                <a:solidFill>
                  <a:srgbClr val="B8655F"/>
                </a:solidFill>
              </a:rPr>
              <a:t>B-03</a:t>
            </a:r>
            <a:endParaRPr lang="en-US" sz="450" dirty="0"/>
          </a:p>
        </p:txBody>
      </p:sp>
      <p:sp>
        <p:nvSpPr>
          <p:cNvPr id="45" name="Shape 43"/>
          <p:cNvSpPr/>
          <p:nvPr/>
        </p:nvSpPr>
        <p:spPr>
          <a:xfrm>
            <a:off x="1828800" y="3438525"/>
            <a:ext cx="38100" cy="38100"/>
          </a:xfrm>
          <a:prstGeom prst="rect">
            <a:avLst/>
          </a:prstGeom>
          <a:solidFill>
            <a:srgbClr val="B8655F"/>
          </a:solidFill>
          <a:ln/>
        </p:spPr>
      </p:sp>
      <p:sp>
        <p:nvSpPr>
          <p:cNvPr id="46" name="Shape 44"/>
          <p:cNvSpPr/>
          <p:nvPr/>
        </p:nvSpPr>
        <p:spPr>
          <a:xfrm>
            <a:off x="2105025" y="3143250"/>
            <a:ext cx="381000" cy="428625"/>
          </a:xfrm>
          <a:prstGeom prst="rect">
            <a:avLst/>
          </a:prstGeom>
          <a:solidFill>
            <a:srgbClr val="FAF7EB"/>
          </a:solidFill>
          <a:ln/>
        </p:spPr>
      </p:sp>
      <p:sp>
        <p:nvSpPr>
          <p:cNvPr id="47" name="Text 45"/>
          <p:cNvSpPr/>
          <p:nvPr/>
        </p:nvSpPr>
        <p:spPr>
          <a:xfrm>
            <a:off x="2105025" y="3286125"/>
            <a:ext cx="381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" dirty="0">
                <a:solidFill>
                  <a:srgbClr val="117373"/>
                </a:solidFill>
              </a:rPr>
              <a:t>B-04</a:t>
            </a:r>
            <a:endParaRPr lang="en-US" sz="450" dirty="0"/>
          </a:p>
        </p:txBody>
      </p:sp>
      <p:sp>
        <p:nvSpPr>
          <p:cNvPr id="48" name="Shape 46"/>
          <p:cNvSpPr/>
          <p:nvPr/>
        </p:nvSpPr>
        <p:spPr>
          <a:xfrm>
            <a:off x="2276475" y="3438525"/>
            <a:ext cx="38100" cy="38100"/>
          </a:xfrm>
          <a:prstGeom prst="rect">
            <a:avLst/>
          </a:prstGeom>
          <a:solidFill>
            <a:srgbClr val="117373"/>
          </a:solidFill>
          <a:ln/>
        </p:spPr>
      </p:sp>
      <p:sp>
        <p:nvSpPr>
          <p:cNvPr id="49" name="Shape 47"/>
          <p:cNvSpPr/>
          <p:nvPr/>
        </p:nvSpPr>
        <p:spPr>
          <a:xfrm>
            <a:off x="2552700" y="3143250"/>
            <a:ext cx="381000" cy="428625"/>
          </a:xfrm>
          <a:prstGeom prst="rect">
            <a:avLst/>
          </a:prstGeom>
          <a:solidFill>
            <a:srgbClr val="FAF7EB"/>
          </a:solidFill>
          <a:ln/>
        </p:spPr>
      </p:sp>
      <p:sp>
        <p:nvSpPr>
          <p:cNvPr id="50" name="Text 48"/>
          <p:cNvSpPr/>
          <p:nvPr/>
        </p:nvSpPr>
        <p:spPr>
          <a:xfrm>
            <a:off x="2552700" y="3286125"/>
            <a:ext cx="381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" dirty="0">
                <a:solidFill>
                  <a:srgbClr val="B8655F"/>
                </a:solidFill>
              </a:rPr>
              <a:t>B-05</a:t>
            </a:r>
            <a:endParaRPr lang="en-US" sz="450" dirty="0"/>
          </a:p>
        </p:txBody>
      </p:sp>
      <p:sp>
        <p:nvSpPr>
          <p:cNvPr id="51" name="Shape 49"/>
          <p:cNvSpPr/>
          <p:nvPr/>
        </p:nvSpPr>
        <p:spPr>
          <a:xfrm>
            <a:off x="2724150" y="3438525"/>
            <a:ext cx="38100" cy="38100"/>
          </a:xfrm>
          <a:prstGeom prst="rect">
            <a:avLst/>
          </a:prstGeom>
          <a:solidFill>
            <a:srgbClr val="B8655F"/>
          </a:solidFill>
          <a:ln/>
        </p:spPr>
      </p:sp>
      <p:sp>
        <p:nvSpPr>
          <p:cNvPr id="52" name="Shape 50"/>
          <p:cNvSpPr/>
          <p:nvPr/>
        </p:nvSpPr>
        <p:spPr>
          <a:xfrm>
            <a:off x="3000375" y="3143250"/>
            <a:ext cx="381000" cy="428625"/>
          </a:xfrm>
          <a:prstGeom prst="rect">
            <a:avLst/>
          </a:prstGeom>
          <a:solidFill>
            <a:srgbClr val="FAF7EB"/>
          </a:solidFill>
          <a:ln/>
        </p:spPr>
      </p:sp>
      <p:sp>
        <p:nvSpPr>
          <p:cNvPr id="53" name="Text 51"/>
          <p:cNvSpPr/>
          <p:nvPr/>
        </p:nvSpPr>
        <p:spPr>
          <a:xfrm>
            <a:off x="3000375" y="3286125"/>
            <a:ext cx="381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" dirty="0">
                <a:solidFill>
                  <a:srgbClr val="B8655F"/>
                </a:solidFill>
              </a:rPr>
              <a:t>B-06</a:t>
            </a:r>
            <a:endParaRPr lang="en-US" sz="450" dirty="0"/>
          </a:p>
        </p:txBody>
      </p:sp>
      <p:sp>
        <p:nvSpPr>
          <p:cNvPr id="54" name="Shape 52"/>
          <p:cNvSpPr/>
          <p:nvPr/>
        </p:nvSpPr>
        <p:spPr>
          <a:xfrm>
            <a:off x="3171825" y="3438525"/>
            <a:ext cx="38100" cy="38100"/>
          </a:xfrm>
          <a:prstGeom prst="rect">
            <a:avLst/>
          </a:prstGeom>
          <a:solidFill>
            <a:srgbClr val="B8655F"/>
          </a:solidFill>
          <a:ln/>
        </p:spPr>
      </p:sp>
      <p:sp>
        <p:nvSpPr>
          <p:cNvPr id="55" name="Shape 53"/>
          <p:cNvSpPr/>
          <p:nvPr/>
        </p:nvSpPr>
        <p:spPr>
          <a:xfrm>
            <a:off x="3448050" y="3143250"/>
            <a:ext cx="381000" cy="428625"/>
          </a:xfrm>
          <a:prstGeom prst="rect">
            <a:avLst/>
          </a:prstGeom>
          <a:solidFill>
            <a:srgbClr val="FAF7EB"/>
          </a:solidFill>
          <a:ln/>
        </p:spPr>
      </p:sp>
      <p:sp>
        <p:nvSpPr>
          <p:cNvPr id="56" name="Text 54"/>
          <p:cNvSpPr/>
          <p:nvPr/>
        </p:nvSpPr>
        <p:spPr>
          <a:xfrm>
            <a:off x="3448050" y="3286125"/>
            <a:ext cx="381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" dirty="0">
                <a:solidFill>
                  <a:srgbClr val="117373"/>
                </a:solidFill>
              </a:rPr>
              <a:t>B-07</a:t>
            </a:r>
            <a:endParaRPr lang="en-US" sz="450" dirty="0"/>
          </a:p>
        </p:txBody>
      </p:sp>
      <p:sp>
        <p:nvSpPr>
          <p:cNvPr id="57" name="Shape 55"/>
          <p:cNvSpPr/>
          <p:nvPr/>
        </p:nvSpPr>
        <p:spPr>
          <a:xfrm>
            <a:off x="3619500" y="3438525"/>
            <a:ext cx="38100" cy="38100"/>
          </a:xfrm>
          <a:prstGeom prst="rect">
            <a:avLst/>
          </a:prstGeom>
          <a:solidFill>
            <a:srgbClr val="117373"/>
          </a:solidFill>
          <a:ln/>
        </p:spPr>
      </p:sp>
      <p:sp>
        <p:nvSpPr>
          <p:cNvPr id="58" name="Shape 56"/>
          <p:cNvSpPr/>
          <p:nvPr/>
        </p:nvSpPr>
        <p:spPr>
          <a:xfrm>
            <a:off x="3895725" y="3143250"/>
            <a:ext cx="381000" cy="428625"/>
          </a:xfrm>
          <a:prstGeom prst="rect">
            <a:avLst/>
          </a:prstGeom>
          <a:solidFill>
            <a:srgbClr val="FAF7EB"/>
          </a:solidFill>
          <a:ln/>
        </p:spPr>
      </p:sp>
      <p:sp>
        <p:nvSpPr>
          <p:cNvPr id="59" name="Text 57"/>
          <p:cNvSpPr/>
          <p:nvPr/>
        </p:nvSpPr>
        <p:spPr>
          <a:xfrm>
            <a:off x="3895725" y="3286125"/>
            <a:ext cx="381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" dirty="0">
                <a:solidFill>
                  <a:srgbClr val="117373"/>
                </a:solidFill>
              </a:rPr>
              <a:t>B-08</a:t>
            </a:r>
            <a:endParaRPr lang="en-US" sz="450" dirty="0"/>
          </a:p>
        </p:txBody>
      </p:sp>
      <p:sp>
        <p:nvSpPr>
          <p:cNvPr id="60" name="Shape 58"/>
          <p:cNvSpPr/>
          <p:nvPr/>
        </p:nvSpPr>
        <p:spPr>
          <a:xfrm>
            <a:off x="4067175" y="3438525"/>
            <a:ext cx="38100" cy="38100"/>
          </a:xfrm>
          <a:prstGeom prst="rect">
            <a:avLst/>
          </a:prstGeom>
          <a:solidFill>
            <a:srgbClr val="117373"/>
          </a:solidFill>
          <a:ln/>
        </p:spPr>
      </p:sp>
      <p:sp>
        <p:nvSpPr>
          <p:cNvPr id="61" name="Text 59"/>
          <p:cNvSpPr/>
          <p:nvPr/>
        </p:nvSpPr>
        <p:spPr>
          <a:xfrm>
            <a:off x="762000" y="3705225"/>
            <a:ext cx="10477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8" dirty="0">
                <a:solidFill>
                  <a:srgbClr val="14253F"/>
                </a:solidFill>
              </a:rPr>
              <a:t>Exit</a:t>
            </a:r>
            <a:endParaRPr lang="en-US" sz="488" dirty="0"/>
          </a:p>
        </p:txBody>
      </p:sp>
      <p:sp>
        <p:nvSpPr>
          <p:cNvPr id="62" name="Shape 60"/>
          <p:cNvSpPr/>
          <p:nvPr/>
        </p:nvSpPr>
        <p:spPr>
          <a:xfrm>
            <a:off x="762000" y="3886200"/>
            <a:ext cx="952500" cy="14288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63" name="Text 61"/>
          <p:cNvSpPr/>
          <p:nvPr/>
        </p:nvSpPr>
        <p:spPr>
          <a:xfrm>
            <a:off x="762000" y="4181475"/>
            <a:ext cx="4381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4D5663"/>
                </a:solidFill>
              </a:rPr>
              <a:t>Section A (8 slots) · Section B (8 slots) · total 16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5619750" y="1752600"/>
            <a:ext cx="30670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5" dirty="0">
                <a:solidFill>
                  <a:srgbClr val="4D5663"/>
                </a:solidFill>
              </a:rPr>
              <a:t>Build Photographs</a:t>
            </a:r>
            <a:endParaRPr lang="en-US" sz="525" dirty="0"/>
          </a:p>
        </p:txBody>
      </p:sp>
      <p:sp>
        <p:nvSpPr>
          <p:cNvPr id="65" name="Shape 63"/>
          <p:cNvSpPr/>
          <p:nvPr/>
        </p:nvSpPr>
        <p:spPr>
          <a:xfrm>
            <a:off x="5619750" y="1914525"/>
            <a:ext cx="228600" cy="14288"/>
          </a:xfrm>
          <a:prstGeom prst="rect">
            <a:avLst/>
          </a:prstGeom>
          <a:solidFill>
            <a:srgbClr val="F2C300"/>
          </a:solidFill>
          <a:ln/>
        </p:spPr>
      </p:sp>
      <p:sp>
        <p:nvSpPr>
          <p:cNvPr id="66" name="Shape 64"/>
          <p:cNvSpPr/>
          <p:nvPr/>
        </p:nvSpPr>
        <p:spPr>
          <a:xfrm>
            <a:off x="5619750" y="2057400"/>
            <a:ext cx="2952750" cy="952500"/>
          </a:xfrm>
          <a:prstGeom prst="rect">
            <a:avLst/>
          </a:prstGeom>
          <a:solidFill>
            <a:srgbClr val="F4F0E2"/>
          </a:solidFill>
          <a:ln/>
        </p:spPr>
      </p:sp>
      <p:sp>
        <p:nvSpPr>
          <p:cNvPr id="67" name="Shape 65"/>
          <p:cNvSpPr/>
          <p:nvPr/>
        </p:nvSpPr>
        <p:spPr>
          <a:xfrm>
            <a:off x="5619750" y="2057400"/>
            <a:ext cx="2952750" cy="28575"/>
          </a:xfrm>
          <a:prstGeom prst="rect">
            <a:avLst/>
          </a:prstGeom>
          <a:solidFill>
            <a:srgbClr val="F2C300"/>
          </a:solidFill>
          <a:ln/>
        </p:spPr>
      </p:sp>
      <p:sp>
        <p:nvSpPr>
          <p:cNvPr id="68" name="Shape 66"/>
          <p:cNvSpPr/>
          <p:nvPr/>
        </p:nvSpPr>
        <p:spPr>
          <a:xfrm>
            <a:off x="5619750" y="2981325"/>
            <a:ext cx="2952750" cy="28575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69" name="Text 67"/>
          <p:cNvSpPr/>
          <p:nvPr/>
        </p:nvSpPr>
        <p:spPr>
          <a:xfrm>
            <a:off x="5867400" y="2219325"/>
            <a:ext cx="2819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8" dirty="0">
                <a:solidFill>
                  <a:srgbClr val="4D5663"/>
                </a:solidFill>
              </a:rPr>
              <a:t>Photo 01</a:t>
            </a:r>
            <a:endParaRPr lang="en-US" sz="488" dirty="0"/>
          </a:p>
        </p:txBody>
      </p:sp>
      <p:sp>
        <p:nvSpPr>
          <p:cNvPr id="70" name="Text 68"/>
          <p:cNvSpPr/>
          <p:nvPr/>
        </p:nvSpPr>
        <p:spPr>
          <a:xfrm>
            <a:off x="5867400" y="2362200"/>
            <a:ext cx="2476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4253F"/>
                </a:solidFill>
              </a:rPr>
              <a:t>Hardware Setup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867400" y="2543175"/>
            <a:ext cx="2476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1B2330"/>
                </a:solidFill>
              </a:rPr>
              <a:t>ESP32 development board with sensor wiring and indicator LEDs.</a:t>
            </a:r>
            <a:endParaRPr lang="en-US" sz="675" dirty="0"/>
          </a:p>
        </p:txBody>
      </p:sp>
      <p:sp>
        <p:nvSpPr>
          <p:cNvPr id="72" name="Text 70"/>
          <p:cNvSpPr/>
          <p:nvPr/>
        </p:nvSpPr>
        <p:spPr>
          <a:xfrm>
            <a:off x="5867400" y="2819400"/>
            <a:ext cx="2819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" dirty="0">
                <a:solidFill>
                  <a:srgbClr val="4D5663"/>
                </a:solidFill>
              </a:rPr>
              <a:t>Photograph on build day</a:t>
            </a:r>
            <a:endParaRPr lang="en-US" sz="450" dirty="0"/>
          </a:p>
        </p:txBody>
      </p:sp>
      <p:sp>
        <p:nvSpPr>
          <p:cNvPr id="73" name="Shape 71"/>
          <p:cNvSpPr/>
          <p:nvPr/>
        </p:nvSpPr>
        <p:spPr>
          <a:xfrm>
            <a:off x="5619750" y="3105150"/>
            <a:ext cx="2952750" cy="762000"/>
          </a:xfrm>
          <a:prstGeom prst="rect">
            <a:avLst/>
          </a:prstGeom>
          <a:solidFill>
            <a:srgbClr val="F4F0E2"/>
          </a:solidFill>
          <a:ln/>
        </p:spPr>
      </p:sp>
      <p:sp>
        <p:nvSpPr>
          <p:cNvPr id="74" name="Shape 72"/>
          <p:cNvSpPr/>
          <p:nvPr/>
        </p:nvSpPr>
        <p:spPr>
          <a:xfrm>
            <a:off x="5619750" y="3105150"/>
            <a:ext cx="2952750" cy="28575"/>
          </a:xfrm>
          <a:prstGeom prst="rect">
            <a:avLst/>
          </a:prstGeom>
          <a:solidFill>
            <a:srgbClr val="117373"/>
          </a:solidFill>
          <a:ln/>
        </p:spPr>
      </p:sp>
      <p:sp>
        <p:nvSpPr>
          <p:cNvPr id="75" name="Text 73"/>
          <p:cNvSpPr/>
          <p:nvPr/>
        </p:nvSpPr>
        <p:spPr>
          <a:xfrm>
            <a:off x="5867400" y="3267075"/>
            <a:ext cx="2819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8" dirty="0">
                <a:solidFill>
                  <a:srgbClr val="4D5663"/>
                </a:solidFill>
              </a:rPr>
              <a:t>Photo 02</a:t>
            </a:r>
            <a:endParaRPr lang="en-US" sz="488" dirty="0"/>
          </a:p>
        </p:txBody>
      </p:sp>
      <p:sp>
        <p:nvSpPr>
          <p:cNvPr id="76" name="Text 74"/>
          <p:cNvSpPr/>
          <p:nvPr/>
        </p:nvSpPr>
        <p:spPr>
          <a:xfrm>
            <a:off x="5867400" y="3409950"/>
            <a:ext cx="2476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4253F"/>
                </a:solidFill>
              </a:rPr>
              <a:t>Parking Model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5867400" y="3590925"/>
            <a:ext cx="2476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7" dirty="0">
                <a:solidFill>
                  <a:srgbClr val="1B2330"/>
                </a:solidFill>
              </a:rPr>
              <a:t>Scaled lot with 16 marked slots, IR sensors mounted at each position.</a:t>
            </a:r>
            <a:endParaRPr lang="en-US" sz="637" dirty="0"/>
          </a:p>
        </p:txBody>
      </p:sp>
      <p:sp>
        <p:nvSpPr>
          <p:cNvPr id="78" name="Shape 76"/>
          <p:cNvSpPr/>
          <p:nvPr/>
        </p:nvSpPr>
        <p:spPr>
          <a:xfrm>
            <a:off x="5619750" y="3962400"/>
            <a:ext cx="2952750" cy="762000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79" name="Shape 77"/>
          <p:cNvSpPr/>
          <p:nvPr/>
        </p:nvSpPr>
        <p:spPr>
          <a:xfrm>
            <a:off x="5619750" y="3962400"/>
            <a:ext cx="28575" cy="762000"/>
          </a:xfrm>
          <a:prstGeom prst="rect">
            <a:avLst/>
          </a:prstGeom>
          <a:solidFill>
            <a:srgbClr val="F2C300"/>
          </a:solidFill>
          <a:ln/>
        </p:spPr>
      </p:sp>
      <p:sp>
        <p:nvSpPr>
          <p:cNvPr id="80" name="Text 78"/>
          <p:cNvSpPr/>
          <p:nvPr/>
        </p:nvSpPr>
        <p:spPr>
          <a:xfrm>
            <a:off x="5867400" y="4124325"/>
            <a:ext cx="2819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8" dirty="0">
                <a:solidFill>
                  <a:srgbClr val="F2C300"/>
                </a:solidFill>
              </a:rPr>
              <a:t>Photo 03</a:t>
            </a:r>
            <a:endParaRPr lang="en-US" sz="488" dirty="0"/>
          </a:p>
        </p:txBody>
      </p:sp>
      <p:sp>
        <p:nvSpPr>
          <p:cNvPr id="81" name="Text 79"/>
          <p:cNvSpPr/>
          <p:nvPr/>
        </p:nvSpPr>
        <p:spPr>
          <a:xfrm>
            <a:off x="5867400" y="4267200"/>
            <a:ext cx="2476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CE7D8"/>
                </a:solidFill>
              </a:rPr>
              <a:t>Dashboard in Action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5867400" y="4448175"/>
            <a:ext cx="2476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7" dirty="0">
                <a:solidFill>
                  <a:srgbClr val="B0B7BE"/>
                </a:solidFill>
              </a:rPr>
              <a:t>Live operator view running on a laptop during the demo.</a:t>
            </a:r>
            <a:endParaRPr lang="en-US" sz="637" dirty="0"/>
          </a:p>
        </p:txBody>
      </p:sp>
      <p:sp>
        <p:nvSpPr>
          <p:cNvPr id="83" name="Text 81"/>
          <p:cNvSpPr/>
          <p:nvPr/>
        </p:nvSpPr>
        <p:spPr>
          <a:xfrm>
            <a:off x="8667750" y="4848225"/>
            <a:ext cx="2857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25" dirty="0">
                <a:solidFill>
                  <a:srgbClr val="4D5663"/>
                </a:solidFill>
              </a:rPr>
              <a:t>11</a:t>
            </a:r>
            <a:endParaRPr lang="en-US" sz="525" dirty="0"/>
          </a:p>
        </p:txBody>
      </p:sp>
      <p:sp>
        <p:nvSpPr>
          <p:cNvPr id="84" name="Shape 82"/>
          <p:cNvSpPr/>
          <p:nvPr/>
        </p:nvSpPr>
        <p:spPr>
          <a:xfrm>
            <a:off x="8248650" y="4886325"/>
            <a:ext cx="371475" cy="9525"/>
          </a:xfrm>
          <a:prstGeom prst="rect">
            <a:avLst/>
          </a:prstGeom>
          <a:solidFill>
            <a:srgbClr val="14253F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E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57200"/>
            <a:ext cx="81153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5" dirty="0">
                <a:solidFill>
                  <a:srgbClr val="4D5663"/>
                </a:solidFill>
              </a:rPr>
              <a:t>09 — Flow</a:t>
            </a:r>
            <a:endParaRPr lang="en-US" sz="525" dirty="0"/>
          </a:p>
        </p:txBody>
      </p:sp>
      <p:sp>
        <p:nvSpPr>
          <p:cNvPr id="3" name="Shape 1"/>
          <p:cNvSpPr/>
          <p:nvPr/>
        </p:nvSpPr>
        <p:spPr>
          <a:xfrm>
            <a:off x="571500" y="619125"/>
            <a:ext cx="266700" cy="14288"/>
          </a:xfrm>
          <a:prstGeom prst="rect">
            <a:avLst/>
          </a:prstGeom>
          <a:solidFill>
            <a:srgbClr val="F2C300"/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752475"/>
            <a:ext cx="7048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4253F"/>
                </a:solidFill>
              </a:rPr>
              <a:t>Working Flow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71500" y="1247775"/>
            <a:ext cx="7048500" cy="6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D5663"/>
                </a:solidFill>
              </a:rPr>
              <a:t>What happens between a vehicle arriving and an operator guiding it to a slot, one cycle at a time.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71500" y="1809750"/>
            <a:ext cx="2381250" cy="1143000"/>
          </a:xfrm>
          <a:prstGeom prst="rect">
            <a:avLst/>
          </a:prstGeom>
          <a:solidFill>
            <a:srgbClr val="F4F0E2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1809750"/>
            <a:ext cx="19050" cy="1143000"/>
          </a:xfrm>
          <a:prstGeom prst="rect">
            <a:avLst/>
          </a:prstGeom>
          <a:solidFill>
            <a:srgbClr val="F2C300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962150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8" dirty="0">
                <a:solidFill>
                  <a:srgbClr val="4D5663"/>
                </a:solidFill>
              </a:rPr>
              <a:t>STAGE 01</a:t>
            </a:r>
            <a:endParaRPr lang="en-US" sz="488" dirty="0"/>
          </a:p>
        </p:txBody>
      </p:sp>
      <p:sp>
        <p:nvSpPr>
          <p:cNvPr id="9" name="Text 7"/>
          <p:cNvSpPr/>
          <p:nvPr/>
        </p:nvSpPr>
        <p:spPr>
          <a:xfrm>
            <a:off x="762000" y="2095500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F"/>
                </a:solidFill>
              </a:rPr>
              <a:t>Detection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2400300"/>
            <a:ext cx="20002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B2330"/>
                </a:solidFill>
              </a:rPr>
              <a:t>Slot occupancy state change is detected by the IR sensor and read by the ESP32.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333750" y="1809750"/>
            <a:ext cx="2381250" cy="1143000"/>
          </a:xfrm>
          <a:prstGeom prst="rect">
            <a:avLst/>
          </a:prstGeom>
          <a:solidFill>
            <a:srgbClr val="F4F0E2"/>
          </a:solidFill>
          <a:ln/>
        </p:spPr>
      </p:sp>
      <p:sp>
        <p:nvSpPr>
          <p:cNvPr id="12" name="Shape 10"/>
          <p:cNvSpPr/>
          <p:nvPr/>
        </p:nvSpPr>
        <p:spPr>
          <a:xfrm>
            <a:off x="3333750" y="1809750"/>
            <a:ext cx="19050" cy="1143000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13" name="Text 11"/>
          <p:cNvSpPr/>
          <p:nvPr/>
        </p:nvSpPr>
        <p:spPr>
          <a:xfrm>
            <a:off x="3524250" y="1962150"/>
            <a:ext cx="51625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8" dirty="0">
                <a:solidFill>
                  <a:srgbClr val="4D5663"/>
                </a:solidFill>
              </a:rPr>
              <a:t>STAGE 02</a:t>
            </a:r>
            <a:endParaRPr lang="en-US" sz="488" dirty="0"/>
          </a:p>
        </p:txBody>
      </p:sp>
      <p:sp>
        <p:nvSpPr>
          <p:cNvPr id="14" name="Text 12"/>
          <p:cNvSpPr/>
          <p:nvPr/>
        </p:nvSpPr>
        <p:spPr>
          <a:xfrm>
            <a:off x="3524250" y="2095500"/>
            <a:ext cx="51625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F"/>
                </a:solidFill>
              </a:rPr>
              <a:t>Processing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24250" y="2400300"/>
            <a:ext cx="20002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B2330"/>
                </a:solidFill>
              </a:rPr>
              <a:t>ESP32 packages the change into a JSON payload and prepares it for transmission.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096000" y="1809750"/>
            <a:ext cx="2476500" cy="1143000"/>
          </a:xfrm>
          <a:prstGeom prst="rect">
            <a:avLst/>
          </a:prstGeom>
          <a:solidFill>
            <a:srgbClr val="F2C300"/>
          </a:solidFill>
          <a:ln/>
        </p:spPr>
      </p:sp>
      <p:sp>
        <p:nvSpPr>
          <p:cNvPr id="17" name="Text 15"/>
          <p:cNvSpPr/>
          <p:nvPr/>
        </p:nvSpPr>
        <p:spPr>
          <a:xfrm>
            <a:off x="6286500" y="1962150"/>
            <a:ext cx="24003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8" dirty="0">
                <a:solidFill>
                  <a:srgbClr val="14253F"/>
                </a:solidFill>
              </a:rPr>
              <a:t>STAGE 03</a:t>
            </a:r>
            <a:endParaRPr lang="en-US" sz="488" dirty="0"/>
          </a:p>
        </p:txBody>
      </p:sp>
      <p:sp>
        <p:nvSpPr>
          <p:cNvPr id="18" name="Text 16"/>
          <p:cNvSpPr/>
          <p:nvPr/>
        </p:nvSpPr>
        <p:spPr>
          <a:xfrm>
            <a:off x="6286500" y="2095500"/>
            <a:ext cx="24003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F"/>
                </a:solidFill>
              </a:rPr>
              <a:t>Backend Update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86500" y="2400300"/>
            <a:ext cx="2095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4253F"/>
                </a:solidFill>
              </a:rPr>
              <a:t>API persists the slot state to the database and broadcasts the updated record.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71500" y="3429000"/>
            <a:ext cx="3714750" cy="952500"/>
          </a:xfrm>
          <a:prstGeom prst="rect">
            <a:avLst/>
          </a:prstGeom>
          <a:solidFill>
            <a:srgbClr val="F4F0E2"/>
          </a:solidFill>
          <a:ln/>
        </p:spPr>
      </p:sp>
      <p:sp>
        <p:nvSpPr>
          <p:cNvPr id="21" name="Shape 19"/>
          <p:cNvSpPr/>
          <p:nvPr/>
        </p:nvSpPr>
        <p:spPr>
          <a:xfrm>
            <a:off x="571500" y="3429000"/>
            <a:ext cx="19050" cy="952500"/>
          </a:xfrm>
          <a:prstGeom prst="rect">
            <a:avLst/>
          </a:prstGeom>
          <a:solidFill>
            <a:srgbClr val="117373"/>
          </a:solidFill>
          <a:ln/>
        </p:spPr>
      </p:sp>
      <p:sp>
        <p:nvSpPr>
          <p:cNvPr id="22" name="Text 20"/>
          <p:cNvSpPr/>
          <p:nvPr/>
        </p:nvSpPr>
        <p:spPr>
          <a:xfrm>
            <a:off x="762000" y="3581400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8" dirty="0">
                <a:solidFill>
                  <a:srgbClr val="4D5663"/>
                </a:solidFill>
              </a:rPr>
              <a:t>STAGE 04</a:t>
            </a:r>
            <a:endParaRPr lang="en-US" sz="488" dirty="0"/>
          </a:p>
        </p:txBody>
      </p:sp>
      <p:sp>
        <p:nvSpPr>
          <p:cNvPr id="23" name="Text 21"/>
          <p:cNvSpPr/>
          <p:nvPr/>
        </p:nvSpPr>
        <p:spPr>
          <a:xfrm>
            <a:off x="762000" y="3714750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F"/>
                </a:solidFill>
              </a:rPr>
              <a:t>Visualization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62000" y="4019550"/>
            <a:ext cx="3238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B2330"/>
                </a:solidFill>
              </a:rPr>
              <a:t>Dashboard refreshes the floor/slot grid in real time for security &amp; administrative view.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476750" y="3429000"/>
            <a:ext cx="4095750" cy="952500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26" name="Shape 24"/>
          <p:cNvSpPr/>
          <p:nvPr/>
        </p:nvSpPr>
        <p:spPr>
          <a:xfrm>
            <a:off x="4476750" y="3429000"/>
            <a:ext cx="28575" cy="952500"/>
          </a:xfrm>
          <a:prstGeom prst="rect">
            <a:avLst/>
          </a:prstGeom>
          <a:solidFill>
            <a:srgbClr val="F2C300"/>
          </a:solidFill>
          <a:ln/>
        </p:spPr>
      </p:sp>
      <p:sp>
        <p:nvSpPr>
          <p:cNvPr id="27" name="Text 25"/>
          <p:cNvSpPr/>
          <p:nvPr/>
        </p:nvSpPr>
        <p:spPr>
          <a:xfrm>
            <a:off x="4667250" y="3581400"/>
            <a:ext cx="40195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8" dirty="0">
                <a:solidFill>
                  <a:srgbClr val="F2C300"/>
                </a:solidFill>
              </a:rPr>
              <a:t>STAGE 05</a:t>
            </a:r>
            <a:endParaRPr lang="en-US" sz="488" dirty="0"/>
          </a:p>
        </p:txBody>
      </p:sp>
      <p:sp>
        <p:nvSpPr>
          <p:cNvPr id="28" name="Text 26"/>
          <p:cNvSpPr/>
          <p:nvPr/>
        </p:nvSpPr>
        <p:spPr>
          <a:xfrm>
            <a:off x="4667250" y="3714750"/>
            <a:ext cx="40195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CE7D8"/>
                </a:solidFill>
              </a:rPr>
              <a:t>Guidance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67250" y="4019550"/>
            <a:ext cx="37147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CE7D8"/>
                </a:solidFill>
              </a:rPr>
              <a:t>Operator sees the vacant slot and directs the driver to it — closing the loop.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71500" y="4667250"/>
            <a:ext cx="8001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14253F"/>
                </a:solidFill>
              </a:rPr>
              <a:t>Continuous Monitoring Loop · Repeats every detection event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8667750" y="4876800"/>
            <a:ext cx="2857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25" dirty="0">
                <a:solidFill>
                  <a:srgbClr val="4D5663"/>
                </a:solidFill>
              </a:rPr>
              <a:t>09</a:t>
            </a:r>
            <a:endParaRPr lang="en-US" sz="525" dirty="0"/>
          </a:p>
        </p:txBody>
      </p:sp>
      <p:sp>
        <p:nvSpPr>
          <p:cNvPr id="32" name="Shape 30"/>
          <p:cNvSpPr/>
          <p:nvPr/>
        </p:nvSpPr>
        <p:spPr>
          <a:xfrm>
            <a:off x="8248650" y="4914900"/>
            <a:ext cx="371475" cy="9525"/>
          </a:xfrm>
          <a:prstGeom prst="rect">
            <a:avLst/>
          </a:prstGeom>
          <a:solidFill>
            <a:srgbClr val="14253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CE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57200"/>
            <a:ext cx="81153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5" dirty="0">
                <a:solidFill>
                  <a:srgbClr val="4D5663"/>
                </a:solidFill>
              </a:rPr>
              <a:t>03 — Diagnosis</a:t>
            </a:r>
            <a:endParaRPr lang="en-US" sz="525" dirty="0"/>
          </a:p>
        </p:txBody>
      </p:sp>
      <p:sp>
        <p:nvSpPr>
          <p:cNvPr id="3" name="Shape 1"/>
          <p:cNvSpPr/>
          <p:nvPr/>
        </p:nvSpPr>
        <p:spPr>
          <a:xfrm>
            <a:off x="571500" y="619125"/>
            <a:ext cx="266700" cy="14288"/>
          </a:xfrm>
          <a:prstGeom prst="rect">
            <a:avLst/>
          </a:prstGeom>
          <a:solidFill>
            <a:srgbClr val="F2C300"/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752475"/>
            <a:ext cx="7048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14253F"/>
                </a:solidFill>
              </a:rPr>
              <a:t>The Problem with Conventional Parking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71500" y="1143000"/>
            <a:ext cx="6286500" cy="6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D5663"/>
                </a:solidFill>
              </a:rPr>
              <a:t>Three compounding failure modes are observable across most unmanaged parking facilities.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71500" y="1619250"/>
            <a:ext cx="2476500" cy="2762250"/>
          </a:xfrm>
          <a:prstGeom prst="rect">
            <a:avLst/>
          </a:prstGeom>
          <a:solidFill>
            <a:srgbClr val="F4F0E2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809750"/>
            <a:ext cx="571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5" dirty="0">
                <a:solidFill>
                  <a:srgbClr val="4D5663"/>
                </a:solidFill>
              </a:rPr>
              <a:t>01.</a:t>
            </a:r>
            <a:endParaRPr lang="en-US" sz="525" dirty="0"/>
          </a:p>
        </p:txBody>
      </p:sp>
      <p:sp>
        <p:nvSpPr>
          <p:cNvPr id="8" name="Shape 6"/>
          <p:cNvSpPr/>
          <p:nvPr/>
        </p:nvSpPr>
        <p:spPr>
          <a:xfrm>
            <a:off x="762000" y="1971675"/>
            <a:ext cx="228600" cy="14288"/>
          </a:xfrm>
          <a:prstGeom prst="rect">
            <a:avLst/>
          </a:prstGeom>
          <a:solidFill>
            <a:srgbClr val="B8655F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2085975"/>
            <a:ext cx="2095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14253F"/>
                </a:solidFill>
              </a:rPr>
              <a:t>Time Wastage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762000" y="2514600"/>
            <a:ext cx="20002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B2330"/>
                </a:solidFill>
              </a:rPr>
              <a:t>Drivers spend excessive time searching for vacant spaces in large, multi-floor facilities without guidance.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38500" y="1619250"/>
            <a:ext cx="2476500" cy="2762250"/>
          </a:xfrm>
          <a:prstGeom prst="rect">
            <a:avLst/>
          </a:prstGeom>
          <a:solidFill>
            <a:srgbClr val="F4F0E2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809750"/>
            <a:ext cx="571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5" dirty="0">
                <a:solidFill>
                  <a:srgbClr val="4D5663"/>
                </a:solidFill>
              </a:rPr>
              <a:t>02.</a:t>
            </a:r>
            <a:endParaRPr lang="en-US" sz="525" dirty="0"/>
          </a:p>
        </p:txBody>
      </p:sp>
      <p:sp>
        <p:nvSpPr>
          <p:cNvPr id="13" name="Shape 11"/>
          <p:cNvSpPr/>
          <p:nvPr/>
        </p:nvSpPr>
        <p:spPr>
          <a:xfrm>
            <a:off x="3429000" y="1971675"/>
            <a:ext cx="228600" cy="14288"/>
          </a:xfrm>
          <a:prstGeom prst="rect">
            <a:avLst/>
          </a:prstGeom>
          <a:solidFill>
            <a:srgbClr val="B8655F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2085975"/>
            <a:ext cx="2095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14253F"/>
                </a:solidFill>
              </a:rPr>
              <a:t>Fuel Wastage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0002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B2330"/>
                </a:solidFill>
              </a:rPr>
              <a:t>Unnecessary movement across multiple floors increases fuel consumption and environmental impact.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05500" y="1619250"/>
            <a:ext cx="2667000" cy="2762250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17" name="Shape 15"/>
          <p:cNvSpPr/>
          <p:nvPr/>
        </p:nvSpPr>
        <p:spPr>
          <a:xfrm>
            <a:off x="5905500" y="1619250"/>
            <a:ext cx="571500" cy="28575"/>
          </a:xfrm>
          <a:prstGeom prst="rect">
            <a:avLst/>
          </a:prstGeom>
          <a:solidFill>
            <a:srgbClr val="F2C300"/>
          </a:solidFill>
          <a:ln/>
        </p:spPr>
      </p:sp>
      <p:sp>
        <p:nvSpPr>
          <p:cNvPr id="18" name="Text 16"/>
          <p:cNvSpPr/>
          <p:nvPr/>
        </p:nvSpPr>
        <p:spPr>
          <a:xfrm>
            <a:off x="6096000" y="1809750"/>
            <a:ext cx="571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5" dirty="0">
                <a:solidFill>
                  <a:srgbClr val="F2C300"/>
                </a:solidFill>
              </a:rPr>
              <a:t>03.</a:t>
            </a:r>
            <a:endParaRPr lang="en-US" sz="525" dirty="0"/>
          </a:p>
        </p:txBody>
      </p:sp>
      <p:sp>
        <p:nvSpPr>
          <p:cNvPr id="19" name="Shape 17"/>
          <p:cNvSpPr/>
          <p:nvPr/>
        </p:nvSpPr>
        <p:spPr>
          <a:xfrm>
            <a:off x="6096000" y="1971675"/>
            <a:ext cx="228600" cy="14288"/>
          </a:xfrm>
          <a:prstGeom prst="rect">
            <a:avLst/>
          </a:prstGeom>
          <a:solidFill>
            <a:srgbClr val="F2C300"/>
          </a:solidFill>
          <a:ln/>
        </p:spPr>
      </p:sp>
      <p:sp>
        <p:nvSpPr>
          <p:cNvPr id="20" name="Text 18"/>
          <p:cNvSpPr/>
          <p:nvPr/>
        </p:nvSpPr>
        <p:spPr>
          <a:xfrm>
            <a:off x="6096000" y="2085975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ECE7D8"/>
                </a:solidFill>
              </a:rPr>
              <a:t>Parking Congestion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6096000" y="2514600"/>
            <a:ext cx="21907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CE7D8"/>
                </a:solidFill>
              </a:rPr>
              <a:t>Vehicles searching for spaces increase traffic density around ramps and primary parking lanes.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667750" y="4743450"/>
            <a:ext cx="2857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25" dirty="0">
                <a:solidFill>
                  <a:srgbClr val="4D5663"/>
                </a:solidFill>
              </a:rPr>
              <a:t>03</a:t>
            </a:r>
            <a:endParaRPr lang="en-US" sz="525" dirty="0"/>
          </a:p>
        </p:txBody>
      </p:sp>
      <p:sp>
        <p:nvSpPr>
          <p:cNvPr id="23" name="Shape 21"/>
          <p:cNvSpPr/>
          <p:nvPr/>
        </p:nvSpPr>
        <p:spPr>
          <a:xfrm>
            <a:off x="8248650" y="4781550"/>
            <a:ext cx="371475" cy="9525"/>
          </a:xfrm>
          <a:prstGeom prst="rect">
            <a:avLst/>
          </a:prstGeom>
          <a:solidFill>
            <a:srgbClr val="14253F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CE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57200"/>
            <a:ext cx="81153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5" dirty="0">
                <a:solidFill>
                  <a:srgbClr val="4D5663"/>
                </a:solidFill>
              </a:rPr>
              <a:t>05 — Operation</a:t>
            </a:r>
            <a:endParaRPr lang="en-US" sz="525" dirty="0"/>
          </a:p>
        </p:txBody>
      </p:sp>
      <p:sp>
        <p:nvSpPr>
          <p:cNvPr id="3" name="Shape 1"/>
          <p:cNvSpPr/>
          <p:nvPr/>
        </p:nvSpPr>
        <p:spPr>
          <a:xfrm>
            <a:off x="571500" y="619125"/>
            <a:ext cx="266700" cy="14288"/>
          </a:xfrm>
          <a:prstGeom prst="rect">
            <a:avLst/>
          </a:prstGeom>
          <a:solidFill>
            <a:srgbClr val="F2C300"/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752475"/>
            <a:ext cx="7048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4253F"/>
                </a:solidFill>
              </a:rPr>
              <a:t>How PARKORA Works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71500" y="1247775"/>
            <a:ext cx="7048500" cy="6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D5663"/>
                </a:solidFill>
              </a:rPr>
              <a:t>A multi-layered IoT ecosystem forming a single feedback loop from individual slots to operational staff.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81000" y="1809750"/>
            <a:ext cx="8382000" cy="1809750"/>
          </a:xfrm>
          <a:prstGeom prst="rect">
            <a:avLst/>
          </a:prstGeom>
          <a:solidFill>
            <a:srgbClr val="F4F0E2"/>
          </a:solidFill>
          <a:ln/>
        </p:spPr>
      </p:sp>
      <p:sp>
        <p:nvSpPr>
          <p:cNvPr id="7" name="Shape 5"/>
          <p:cNvSpPr/>
          <p:nvPr/>
        </p:nvSpPr>
        <p:spPr>
          <a:xfrm>
            <a:off x="1047750" y="2667000"/>
            <a:ext cx="7048500" cy="9525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8" name="Shape 6"/>
          <p:cNvSpPr/>
          <p:nvPr/>
        </p:nvSpPr>
        <p:spPr>
          <a:xfrm>
            <a:off x="857250" y="2286000"/>
            <a:ext cx="762000" cy="762000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9" name="Text 7"/>
          <p:cNvSpPr/>
          <p:nvPr/>
        </p:nvSpPr>
        <p:spPr>
          <a:xfrm>
            <a:off x="857250" y="2514600"/>
            <a:ext cx="76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F2C300"/>
                </a:solidFill>
              </a:rPr>
              <a:t>Sense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571500" y="3143250"/>
            <a:ext cx="1333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14253F"/>
                </a:solidFill>
              </a:rPr>
              <a:t>Slot Sensors IR detection</a:t>
            </a:r>
            <a:endParaRPr lang="en-US" sz="825" dirty="0"/>
          </a:p>
        </p:txBody>
      </p:sp>
      <p:sp>
        <p:nvSpPr>
          <p:cNvPr id="11" name="Shape 9"/>
          <p:cNvSpPr/>
          <p:nvPr/>
        </p:nvSpPr>
        <p:spPr>
          <a:xfrm>
            <a:off x="2667000" y="2286000"/>
            <a:ext cx="762000" cy="762000"/>
          </a:xfrm>
          <a:prstGeom prst="rect">
            <a:avLst/>
          </a:prstGeom>
          <a:solidFill>
            <a:srgbClr val="FAF7EB"/>
          </a:solidFill>
          <a:ln/>
        </p:spPr>
      </p:sp>
      <p:sp>
        <p:nvSpPr>
          <p:cNvPr id="12" name="Text 10"/>
          <p:cNvSpPr/>
          <p:nvPr/>
        </p:nvSpPr>
        <p:spPr>
          <a:xfrm>
            <a:off x="2667000" y="2514600"/>
            <a:ext cx="76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14253F"/>
                </a:solidFill>
              </a:rPr>
              <a:t>Process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2381250" y="3143250"/>
            <a:ext cx="1333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14253F"/>
                </a:solidFill>
              </a:rPr>
              <a:t>ESP32 Node local MCU</a:t>
            </a:r>
            <a:endParaRPr lang="en-US" sz="825" dirty="0"/>
          </a:p>
        </p:txBody>
      </p:sp>
      <p:sp>
        <p:nvSpPr>
          <p:cNvPr id="14" name="Shape 12"/>
          <p:cNvSpPr/>
          <p:nvPr/>
        </p:nvSpPr>
        <p:spPr>
          <a:xfrm>
            <a:off x="4476750" y="2286000"/>
            <a:ext cx="762000" cy="762000"/>
          </a:xfrm>
          <a:prstGeom prst="rect">
            <a:avLst/>
          </a:prstGeom>
          <a:solidFill>
            <a:srgbClr val="F2C300"/>
          </a:solidFill>
          <a:ln/>
        </p:spPr>
      </p:sp>
      <p:sp>
        <p:nvSpPr>
          <p:cNvPr id="15" name="Text 13"/>
          <p:cNvSpPr/>
          <p:nvPr/>
        </p:nvSpPr>
        <p:spPr>
          <a:xfrm>
            <a:off x="4476750" y="2514600"/>
            <a:ext cx="76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14253F"/>
                </a:solidFill>
              </a:rPr>
              <a:t>Sync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191000" y="3143250"/>
            <a:ext cx="1333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14253F"/>
                </a:solidFill>
              </a:rPr>
              <a:t>Backend / DB centralized</a:t>
            </a:r>
            <a:endParaRPr lang="en-US" sz="825" dirty="0"/>
          </a:p>
        </p:txBody>
      </p:sp>
      <p:sp>
        <p:nvSpPr>
          <p:cNvPr id="17" name="Shape 15"/>
          <p:cNvSpPr/>
          <p:nvPr/>
        </p:nvSpPr>
        <p:spPr>
          <a:xfrm>
            <a:off x="6286500" y="2286000"/>
            <a:ext cx="762000" cy="762000"/>
          </a:xfrm>
          <a:prstGeom prst="rect">
            <a:avLst/>
          </a:prstGeom>
          <a:solidFill>
            <a:srgbClr val="FAF7EB"/>
          </a:solidFill>
          <a:ln/>
        </p:spPr>
      </p:sp>
      <p:sp>
        <p:nvSpPr>
          <p:cNvPr id="18" name="Text 16"/>
          <p:cNvSpPr/>
          <p:nvPr/>
        </p:nvSpPr>
        <p:spPr>
          <a:xfrm>
            <a:off x="6286500" y="2514600"/>
            <a:ext cx="76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14253F"/>
                </a:solidFill>
              </a:rPr>
              <a:t>Display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6000750" y="3143250"/>
            <a:ext cx="1333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14253F"/>
                </a:solidFill>
              </a:rPr>
              <a:t>Dashboard operator view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1809750" y="2476500"/>
            <a:ext cx="6667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" dirty="0">
                <a:solidFill>
                  <a:srgbClr val="4D5663"/>
                </a:solidFill>
              </a:rPr>
              <a:t>digital I/O</a:t>
            </a:r>
            <a:endParaRPr lang="en-US" sz="450" dirty="0"/>
          </a:p>
        </p:txBody>
      </p:sp>
      <p:sp>
        <p:nvSpPr>
          <p:cNvPr id="21" name="Text 19"/>
          <p:cNvSpPr/>
          <p:nvPr/>
        </p:nvSpPr>
        <p:spPr>
          <a:xfrm>
            <a:off x="3619500" y="2476500"/>
            <a:ext cx="6667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" dirty="0">
                <a:solidFill>
                  <a:srgbClr val="4D5663"/>
                </a:solidFill>
              </a:rPr>
              <a:t>Wi-Fi / MQTT</a:t>
            </a:r>
            <a:endParaRPr lang="en-US" sz="450" dirty="0"/>
          </a:p>
        </p:txBody>
      </p:sp>
      <p:sp>
        <p:nvSpPr>
          <p:cNvPr id="22" name="Text 20"/>
          <p:cNvSpPr/>
          <p:nvPr/>
        </p:nvSpPr>
        <p:spPr>
          <a:xfrm>
            <a:off x="5429250" y="2476500"/>
            <a:ext cx="6667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" dirty="0">
                <a:solidFill>
                  <a:srgbClr val="4D5663"/>
                </a:solidFill>
              </a:rPr>
              <a:t>REST / query</a:t>
            </a:r>
            <a:endParaRPr lang="en-US" sz="450" dirty="0"/>
          </a:p>
        </p:txBody>
      </p:sp>
      <p:sp>
        <p:nvSpPr>
          <p:cNvPr id="23" name="Text 21"/>
          <p:cNvSpPr/>
          <p:nvPr/>
        </p:nvSpPr>
        <p:spPr>
          <a:xfrm>
            <a:off x="7239000" y="2476500"/>
            <a:ext cx="76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" dirty="0">
                <a:solidFill>
                  <a:srgbClr val="4D5663"/>
                </a:solidFill>
              </a:rPr>
              <a:t>live update</a:t>
            </a:r>
            <a:endParaRPr lang="en-US" sz="450" dirty="0"/>
          </a:p>
        </p:txBody>
      </p:sp>
      <p:sp>
        <p:nvSpPr>
          <p:cNvPr id="24" name="Shape 22"/>
          <p:cNvSpPr/>
          <p:nvPr/>
        </p:nvSpPr>
        <p:spPr>
          <a:xfrm>
            <a:off x="8096250" y="2286000"/>
            <a:ext cx="571500" cy="762000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25" name="Shape 23"/>
          <p:cNvSpPr/>
          <p:nvPr/>
        </p:nvSpPr>
        <p:spPr>
          <a:xfrm>
            <a:off x="8096250" y="2286000"/>
            <a:ext cx="571500" cy="28575"/>
          </a:xfrm>
          <a:prstGeom prst="rect">
            <a:avLst/>
          </a:prstGeom>
          <a:solidFill>
            <a:srgbClr val="F2C300"/>
          </a:solidFill>
          <a:ln/>
        </p:spPr>
      </p:sp>
      <p:sp>
        <p:nvSpPr>
          <p:cNvPr id="26" name="Text 24"/>
          <p:cNvSpPr/>
          <p:nvPr/>
        </p:nvSpPr>
        <p:spPr>
          <a:xfrm>
            <a:off x="8096250" y="2514600"/>
            <a:ext cx="571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F2C300"/>
                </a:solidFill>
              </a:rPr>
              <a:t>Guide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7905750" y="3143250"/>
            <a:ext cx="952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14253F"/>
                </a:solidFill>
              </a:rPr>
              <a:t>Security Guard directs driver</a:t>
            </a:r>
            <a:endParaRPr lang="en-US" sz="825" dirty="0"/>
          </a:p>
        </p:txBody>
      </p:sp>
      <p:sp>
        <p:nvSpPr>
          <p:cNvPr id="28" name="Shape 26"/>
          <p:cNvSpPr/>
          <p:nvPr/>
        </p:nvSpPr>
        <p:spPr>
          <a:xfrm>
            <a:off x="571500" y="3952875"/>
            <a:ext cx="8001000" cy="4763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29" name="Text 27"/>
          <p:cNvSpPr/>
          <p:nvPr/>
        </p:nvSpPr>
        <p:spPr>
          <a:xfrm>
            <a:off x="571500" y="4143375"/>
            <a:ext cx="8001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330"/>
                </a:solidFill>
              </a:rPr>
              <a:t>Each cycle is closed in the dashboard — status flows from physical slot back to operator action.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667750" y="4743450"/>
            <a:ext cx="2857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25" dirty="0">
                <a:solidFill>
                  <a:srgbClr val="4D5663"/>
                </a:solidFill>
              </a:rPr>
              <a:t>05</a:t>
            </a:r>
            <a:endParaRPr lang="en-US" sz="525" dirty="0"/>
          </a:p>
        </p:txBody>
      </p:sp>
      <p:sp>
        <p:nvSpPr>
          <p:cNvPr id="31" name="Shape 29"/>
          <p:cNvSpPr/>
          <p:nvPr/>
        </p:nvSpPr>
        <p:spPr>
          <a:xfrm>
            <a:off x="8248650" y="4781550"/>
            <a:ext cx="371475" cy="9525"/>
          </a:xfrm>
          <a:prstGeom prst="rect">
            <a:avLst/>
          </a:prstGeom>
          <a:solidFill>
            <a:srgbClr val="14253F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CE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57200"/>
            <a:ext cx="81153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5" dirty="0">
                <a:solidFill>
                  <a:srgbClr val="4D5663"/>
                </a:solidFill>
              </a:rPr>
              <a:t>08 — Stack</a:t>
            </a:r>
            <a:endParaRPr lang="en-US" sz="525" dirty="0"/>
          </a:p>
        </p:txBody>
      </p:sp>
      <p:sp>
        <p:nvSpPr>
          <p:cNvPr id="3" name="Shape 1"/>
          <p:cNvSpPr/>
          <p:nvPr/>
        </p:nvSpPr>
        <p:spPr>
          <a:xfrm>
            <a:off x="571500" y="619125"/>
            <a:ext cx="266700" cy="14288"/>
          </a:xfrm>
          <a:prstGeom prst="rect">
            <a:avLst/>
          </a:prstGeom>
          <a:solidFill>
            <a:srgbClr val="F2C300"/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752475"/>
            <a:ext cx="7048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4253F"/>
                </a:solidFill>
              </a:rPr>
              <a:t>Hardware &amp; Software Stack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71500" y="1247775"/>
            <a:ext cx="7048500" cy="6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D5663"/>
                </a:solidFill>
              </a:rPr>
              <a:t>The prototype uses one sensor family, one MCU class, lightweight dashboard, and a single MQTT broker.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71500" y="1619250"/>
            <a:ext cx="3905250" cy="3143250"/>
          </a:xfrm>
          <a:prstGeom prst="rect">
            <a:avLst/>
          </a:prstGeom>
          <a:solidFill>
            <a:srgbClr val="F4F0E2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1619250"/>
            <a:ext cx="3905250" cy="28575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809750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4253F"/>
                </a:solidFill>
              </a:rPr>
              <a:t>Hardware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752600" y="1866900"/>
            <a:ext cx="6934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" dirty="0">
                <a:solidFill>
                  <a:srgbClr val="14253F"/>
                </a:solidFill>
              </a:rPr>
              <a:t>Embedded</a:t>
            </a:r>
            <a:endParaRPr lang="en-US" sz="450" dirty="0"/>
          </a:p>
        </p:txBody>
      </p:sp>
      <p:sp>
        <p:nvSpPr>
          <p:cNvPr id="10" name="Shape 8"/>
          <p:cNvSpPr/>
          <p:nvPr/>
        </p:nvSpPr>
        <p:spPr>
          <a:xfrm>
            <a:off x="762000" y="2114550"/>
            <a:ext cx="3524250" cy="4763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2247900"/>
            <a:ext cx="952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4253F"/>
                </a:solidFill>
              </a:rPr>
              <a:t>ESP32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809750" y="2247900"/>
            <a:ext cx="2476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B2330"/>
                </a:solidFill>
              </a:rPr>
              <a:t>Primary microcontroller with Wi-Fi for sensor data acquisition at each slot.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762000" y="2781300"/>
            <a:ext cx="3524250" cy="4763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2914650"/>
            <a:ext cx="952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4253F"/>
                </a:solidFill>
              </a:rPr>
              <a:t>IR Sensor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1809750" y="2914650"/>
            <a:ext cx="2476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B2330"/>
                </a:solidFill>
              </a:rPr>
              <a:t>Vehicle presence detection at each parking slot — binary occupied / vacant output.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62000" y="3448050"/>
            <a:ext cx="3524250" cy="4763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3581400"/>
            <a:ext cx="952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4253F"/>
                </a:solidFill>
              </a:rPr>
              <a:t>LED Indicators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1809750" y="3581400"/>
            <a:ext cx="2476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B2330"/>
                </a:solidFill>
              </a:rPr>
              <a:t>Local slot-level feedback — green for available, red for occupied.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762000" y="4114800"/>
            <a:ext cx="3524250" cy="4763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20" name="Text 18"/>
          <p:cNvSpPr/>
          <p:nvPr/>
        </p:nvSpPr>
        <p:spPr>
          <a:xfrm>
            <a:off x="762000" y="4248150"/>
            <a:ext cx="952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4253F"/>
                </a:solidFill>
              </a:rPr>
              <a:t>Power Unit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1809750" y="4248150"/>
            <a:ext cx="2476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B2330"/>
                </a:solidFill>
              </a:rPr>
              <a:t>Regulated 5V / 3.3V distribution for stable MCU and sensor operation.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667250" y="1619250"/>
            <a:ext cx="3905250" cy="3143250"/>
          </a:xfrm>
          <a:prstGeom prst="rect">
            <a:avLst/>
          </a:prstGeom>
          <a:solidFill>
            <a:srgbClr val="F4F0E2"/>
          </a:solidFill>
          <a:ln/>
        </p:spPr>
      </p:sp>
      <p:sp>
        <p:nvSpPr>
          <p:cNvPr id="23" name="Shape 21"/>
          <p:cNvSpPr/>
          <p:nvPr/>
        </p:nvSpPr>
        <p:spPr>
          <a:xfrm>
            <a:off x="4667250" y="1619250"/>
            <a:ext cx="3905250" cy="28575"/>
          </a:xfrm>
          <a:prstGeom prst="rect">
            <a:avLst/>
          </a:prstGeom>
          <a:solidFill>
            <a:srgbClr val="F2C300"/>
          </a:solidFill>
          <a:ln/>
        </p:spPr>
      </p:sp>
      <p:sp>
        <p:nvSpPr>
          <p:cNvPr id="24" name="Text 22"/>
          <p:cNvSpPr/>
          <p:nvPr/>
        </p:nvSpPr>
        <p:spPr>
          <a:xfrm>
            <a:off x="4857750" y="1809750"/>
            <a:ext cx="38290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4253F"/>
                </a:solidFill>
              </a:rPr>
              <a:t>Software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848350" y="1866900"/>
            <a:ext cx="28384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" dirty="0">
                <a:solidFill>
                  <a:srgbClr val="ECE7D8"/>
                </a:solidFill>
              </a:rPr>
              <a:t>Full-Stack</a:t>
            </a:r>
            <a:endParaRPr lang="en-US" sz="450" dirty="0"/>
          </a:p>
        </p:txBody>
      </p:sp>
      <p:sp>
        <p:nvSpPr>
          <p:cNvPr id="26" name="Shape 24"/>
          <p:cNvSpPr/>
          <p:nvPr/>
        </p:nvSpPr>
        <p:spPr>
          <a:xfrm>
            <a:off x="4857750" y="2114550"/>
            <a:ext cx="3524250" cy="4763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27" name="Text 25"/>
          <p:cNvSpPr/>
          <p:nvPr/>
        </p:nvSpPr>
        <p:spPr>
          <a:xfrm>
            <a:off x="4857750" y="2247900"/>
            <a:ext cx="952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4253F"/>
                </a:solidFill>
              </a:rPr>
              <a:t>React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5905500" y="2247900"/>
            <a:ext cx="25717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B2330"/>
                </a:solidFill>
              </a:rPr>
              <a:t>Single Page Application for the real-time security dashboard.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857750" y="2781300"/>
            <a:ext cx="3524250" cy="4763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30" name="Text 28"/>
          <p:cNvSpPr/>
          <p:nvPr/>
        </p:nvSpPr>
        <p:spPr>
          <a:xfrm>
            <a:off x="4857750" y="2914650"/>
            <a:ext cx="952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4253F"/>
                </a:solidFill>
              </a:rPr>
              <a:t>Node.js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5905500" y="2914650"/>
            <a:ext cx="25717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B2330"/>
                </a:solidFill>
              </a:rPr>
              <a:t>Centralized API server for MQTT message ingest and event processing.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857750" y="3448050"/>
            <a:ext cx="3524250" cy="4763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33" name="Text 31"/>
          <p:cNvSpPr/>
          <p:nvPr/>
        </p:nvSpPr>
        <p:spPr>
          <a:xfrm>
            <a:off x="4857750" y="3581400"/>
            <a:ext cx="952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4253F"/>
                </a:solidFill>
              </a:rPr>
              <a:t>PostgreSQL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5905500" y="3581400"/>
            <a:ext cx="25717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B2330"/>
                </a:solidFill>
              </a:rPr>
              <a:t>Relational store for slot metadata, occupancy history, audit events.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857750" y="4114800"/>
            <a:ext cx="3524250" cy="4763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36" name="Text 34"/>
          <p:cNvSpPr/>
          <p:nvPr/>
        </p:nvSpPr>
        <p:spPr>
          <a:xfrm>
            <a:off x="4857750" y="4248150"/>
            <a:ext cx="952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4253F"/>
                </a:solidFill>
              </a:rPr>
              <a:t>MQTT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5905500" y="4248150"/>
            <a:ext cx="25717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B2330"/>
                </a:solidFill>
              </a:rPr>
              <a:t>Lightweight pub/sub protocol for IoT sensor-to-server messaging.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71500" y="4876800"/>
            <a:ext cx="8001000" cy="4763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39" name="Text 37"/>
          <p:cNvSpPr/>
          <p:nvPr/>
        </p:nvSpPr>
        <p:spPr>
          <a:xfrm>
            <a:off x="8667750" y="4876800"/>
            <a:ext cx="2857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25" dirty="0">
                <a:solidFill>
                  <a:srgbClr val="4D5663"/>
                </a:solidFill>
              </a:rPr>
              <a:t>08</a:t>
            </a:r>
            <a:endParaRPr lang="en-US" sz="5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CE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57200"/>
            <a:ext cx="81153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5" dirty="0">
                <a:solidFill>
                  <a:srgbClr val="4D5663"/>
                </a:solidFill>
              </a:rPr>
              <a:t>02 — Concept</a:t>
            </a:r>
            <a:endParaRPr lang="en-US" sz="525" dirty="0"/>
          </a:p>
        </p:txBody>
      </p:sp>
      <p:sp>
        <p:nvSpPr>
          <p:cNvPr id="3" name="Shape 1"/>
          <p:cNvSpPr/>
          <p:nvPr/>
        </p:nvSpPr>
        <p:spPr>
          <a:xfrm>
            <a:off x="571500" y="619125"/>
            <a:ext cx="266700" cy="14288"/>
          </a:xfrm>
          <a:prstGeom prst="rect">
            <a:avLst/>
          </a:prstGeom>
          <a:solidFill>
            <a:srgbClr val="F2C300"/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752475"/>
            <a:ext cx="52387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>
                <a:solidFill>
                  <a:srgbClr val="14253F"/>
                </a:solidFill>
              </a:rPr>
              <a:t>Project Concept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571500" y="1333500"/>
            <a:ext cx="4763" cy="228600"/>
          </a:xfrm>
          <a:prstGeom prst="rect">
            <a:avLst/>
          </a:prstGeom>
          <a:solidFill>
            <a:srgbClr val="F2C300"/>
          </a:solidFill>
          <a:ln/>
        </p:spPr>
      </p:sp>
      <p:sp>
        <p:nvSpPr>
          <p:cNvPr id="6" name="Text 4"/>
          <p:cNvSpPr/>
          <p:nvPr/>
        </p:nvSpPr>
        <p:spPr>
          <a:xfrm>
            <a:off x="571500" y="1771650"/>
            <a:ext cx="3619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B2330"/>
                </a:solidFill>
              </a:rPr>
              <a:t>PARKORA is an IoT-based smart parking system that detects parking-slot occupancy in real time and provides centralized information to security personnel and drivers.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571500" y="2724150"/>
            <a:ext cx="3619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D5663"/>
                </a:solidFill>
              </a:rPr>
              <a:t>By integrating hardware sensors with a centralized backend, the system provides real-time parking information and improves parking-space monitoring in large-scale facilities.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71500" y="3714750"/>
            <a:ext cx="3619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5" dirty="0">
                <a:solidFill>
                  <a:srgbClr val="8E96A0"/>
                </a:solidFill>
              </a:rPr>
              <a:t>Principle summary</a:t>
            </a:r>
            <a:endParaRPr lang="en-US" sz="525" dirty="0"/>
          </a:p>
        </p:txBody>
      </p:sp>
      <p:sp>
        <p:nvSpPr>
          <p:cNvPr id="9" name="Text 7"/>
          <p:cNvSpPr/>
          <p:nvPr/>
        </p:nvSpPr>
        <p:spPr>
          <a:xfrm>
            <a:off x="571500" y="3905250"/>
            <a:ext cx="3619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1B2330"/>
                </a:solidFill>
              </a:rPr>
              <a:t>The system is designed around a single feedback loop — each physical slot reports status to a shared backend, and operators act on a single source of truth.</a:t>
            </a:r>
            <a:endParaRPr lang="en-US" sz="825" dirty="0"/>
          </a:p>
        </p:txBody>
      </p:sp>
      <p:sp>
        <p:nvSpPr>
          <p:cNvPr id="10" name="Shape 8"/>
          <p:cNvSpPr/>
          <p:nvPr/>
        </p:nvSpPr>
        <p:spPr>
          <a:xfrm>
            <a:off x="4743450" y="752475"/>
            <a:ext cx="3829050" cy="3619500"/>
          </a:xfrm>
          <a:prstGeom prst="rect">
            <a:avLst/>
          </a:prstGeom>
          <a:solidFill>
            <a:srgbClr val="FAF7EB"/>
          </a:solidFill>
          <a:ln/>
        </p:spPr>
      </p:sp>
      <p:sp>
        <p:nvSpPr>
          <p:cNvPr id="11" name="Text 9"/>
          <p:cNvSpPr/>
          <p:nvPr/>
        </p:nvSpPr>
        <p:spPr>
          <a:xfrm>
            <a:off x="4876800" y="895350"/>
            <a:ext cx="3810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8" dirty="0">
                <a:solidFill>
                  <a:srgbClr val="4D5663"/>
                </a:solidFill>
              </a:rPr>
              <a:t>Operation Sequence</a:t>
            </a:r>
            <a:endParaRPr lang="en-US" sz="488" dirty="0"/>
          </a:p>
        </p:txBody>
      </p:sp>
      <p:sp>
        <p:nvSpPr>
          <p:cNvPr id="12" name="Shape 10"/>
          <p:cNvSpPr/>
          <p:nvPr/>
        </p:nvSpPr>
        <p:spPr>
          <a:xfrm>
            <a:off x="5038725" y="1181100"/>
            <a:ext cx="762000" cy="571500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13" name="Text 11"/>
          <p:cNvSpPr/>
          <p:nvPr/>
        </p:nvSpPr>
        <p:spPr>
          <a:xfrm>
            <a:off x="5038725" y="1333500"/>
            <a:ext cx="76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2C300"/>
                </a:solidFill>
              </a:rPr>
              <a:t>Sense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38725" y="1866900"/>
            <a:ext cx="952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dirty="0">
                <a:solidFill>
                  <a:srgbClr val="1B2330"/>
                </a:solidFill>
              </a:rPr>
              <a:t>Problem identified</a:t>
            </a:r>
            <a:endParaRPr lang="en-US" sz="675" dirty="0"/>
          </a:p>
        </p:txBody>
      </p:sp>
      <p:sp>
        <p:nvSpPr>
          <p:cNvPr id="15" name="Shape 13"/>
          <p:cNvSpPr/>
          <p:nvPr/>
        </p:nvSpPr>
        <p:spPr>
          <a:xfrm>
            <a:off x="6286500" y="1181100"/>
            <a:ext cx="762000" cy="571500"/>
          </a:xfrm>
          <a:prstGeom prst="rect">
            <a:avLst/>
          </a:prstGeom>
          <a:solidFill>
            <a:srgbClr val="F4F0E2"/>
          </a:solidFill>
          <a:ln/>
        </p:spPr>
      </p:sp>
      <p:sp>
        <p:nvSpPr>
          <p:cNvPr id="16" name="Text 14"/>
          <p:cNvSpPr/>
          <p:nvPr/>
        </p:nvSpPr>
        <p:spPr>
          <a:xfrm>
            <a:off x="6286500" y="1333500"/>
            <a:ext cx="76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253F"/>
                </a:solidFill>
              </a:rPr>
              <a:t>Detect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91250" y="1866900"/>
            <a:ext cx="952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dirty="0">
                <a:solidFill>
                  <a:srgbClr val="1B2330"/>
                </a:solidFill>
              </a:rPr>
              <a:t>Sensor detection</a:t>
            </a:r>
            <a:endParaRPr lang="en-US" sz="675" dirty="0"/>
          </a:p>
        </p:txBody>
      </p:sp>
      <p:sp>
        <p:nvSpPr>
          <p:cNvPr id="18" name="Shape 16"/>
          <p:cNvSpPr/>
          <p:nvPr/>
        </p:nvSpPr>
        <p:spPr>
          <a:xfrm>
            <a:off x="6286500" y="2466975"/>
            <a:ext cx="762000" cy="571500"/>
          </a:xfrm>
          <a:prstGeom prst="rect">
            <a:avLst/>
          </a:prstGeom>
          <a:solidFill>
            <a:srgbClr val="F2C300"/>
          </a:solidFill>
          <a:ln/>
        </p:spPr>
      </p:sp>
      <p:sp>
        <p:nvSpPr>
          <p:cNvPr id="19" name="Text 17"/>
          <p:cNvSpPr/>
          <p:nvPr/>
        </p:nvSpPr>
        <p:spPr>
          <a:xfrm>
            <a:off x="6286500" y="2619375"/>
            <a:ext cx="76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253F"/>
                </a:solidFill>
              </a:rPr>
              <a:t>Sync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91250" y="3152775"/>
            <a:ext cx="952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dirty="0">
                <a:solidFill>
                  <a:srgbClr val="1B2330"/>
                </a:solidFill>
              </a:rPr>
              <a:t>Real-time data</a:t>
            </a:r>
            <a:endParaRPr lang="en-US" sz="675" dirty="0"/>
          </a:p>
        </p:txBody>
      </p:sp>
      <p:sp>
        <p:nvSpPr>
          <p:cNvPr id="21" name="Shape 19"/>
          <p:cNvSpPr/>
          <p:nvPr/>
        </p:nvSpPr>
        <p:spPr>
          <a:xfrm>
            <a:off x="5038725" y="2466975"/>
            <a:ext cx="762000" cy="571500"/>
          </a:xfrm>
          <a:prstGeom prst="rect">
            <a:avLst/>
          </a:prstGeom>
          <a:solidFill>
            <a:srgbClr val="F4F0E2"/>
          </a:solidFill>
          <a:ln/>
        </p:spPr>
      </p:sp>
      <p:sp>
        <p:nvSpPr>
          <p:cNvPr id="22" name="Text 20"/>
          <p:cNvSpPr/>
          <p:nvPr/>
        </p:nvSpPr>
        <p:spPr>
          <a:xfrm>
            <a:off x="5038725" y="2619375"/>
            <a:ext cx="76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253F"/>
                </a:solidFill>
              </a:rPr>
              <a:t>Guide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05375" y="3152775"/>
            <a:ext cx="10477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dirty="0">
                <a:solidFill>
                  <a:srgbClr val="1B2330"/>
                </a:solidFill>
              </a:rPr>
              <a:t>Driver guidance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4876800" y="4133850"/>
            <a:ext cx="3810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8" dirty="0">
                <a:solidFill>
                  <a:srgbClr val="4D5663"/>
                </a:solidFill>
              </a:rPr>
              <a:t>Loop · continuous</a:t>
            </a:r>
            <a:endParaRPr lang="en-US" sz="488" dirty="0"/>
          </a:p>
        </p:txBody>
      </p:sp>
      <p:sp>
        <p:nvSpPr>
          <p:cNvPr id="25" name="Shape 23"/>
          <p:cNvSpPr/>
          <p:nvPr/>
        </p:nvSpPr>
        <p:spPr>
          <a:xfrm>
            <a:off x="7810500" y="4057650"/>
            <a:ext cx="571500" cy="114300"/>
          </a:xfrm>
          <a:prstGeom prst="rect">
            <a:avLst/>
          </a:prstGeom>
          <a:solidFill>
            <a:srgbClr val="14253F"/>
          </a:solidFill>
          <a:ln/>
        </p:spPr>
      </p:sp>
      <p:sp>
        <p:nvSpPr>
          <p:cNvPr id="26" name="Shape 24"/>
          <p:cNvSpPr/>
          <p:nvPr/>
        </p:nvSpPr>
        <p:spPr>
          <a:xfrm>
            <a:off x="7810500" y="4057650"/>
            <a:ext cx="571500" cy="14288"/>
          </a:xfrm>
          <a:prstGeom prst="rect">
            <a:avLst/>
          </a:prstGeom>
          <a:solidFill>
            <a:srgbClr val="F2C300"/>
          </a:solidFill>
          <a:ln/>
        </p:spPr>
      </p:sp>
      <p:sp>
        <p:nvSpPr>
          <p:cNvPr id="27" name="Text 25"/>
          <p:cNvSpPr/>
          <p:nvPr/>
        </p:nvSpPr>
        <p:spPr>
          <a:xfrm>
            <a:off x="7810500" y="4071938"/>
            <a:ext cx="571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" dirty="0">
                <a:solidFill>
                  <a:srgbClr val="F4F0E2"/>
                </a:solidFill>
              </a:rPr>
              <a:t>04 / 04</a:t>
            </a:r>
            <a:endParaRPr lang="en-US" sz="450" dirty="0"/>
          </a:p>
        </p:txBody>
      </p:sp>
      <p:sp>
        <p:nvSpPr>
          <p:cNvPr id="28" name="Text 26"/>
          <p:cNvSpPr/>
          <p:nvPr/>
        </p:nvSpPr>
        <p:spPr>
          <a:xfrm>
            <a:off x="8667750" y="4743450"/>
            <a:ext cx="2857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25" dirty="0">
                <a:solidFill>
                  <a:srgbClr val="4D5663"/>
                </a:solidFill>
              </a:rPr>
              <a:t>02</a:t>
            </a:r>
            <a:endParaRPr lang="en-US" sz="525" dirty="0"/>
          </a:p>
        </p:txBody>
      </p:sp>
      <p:sp>
        <p:nvSpPr>
          <p:cNvPr id="29" name="Shape 27"/>
          <p:cNvSpPr/>
          <p:nvPr/>
        </p:nvSpPr>
        <p:spPr>
          <a:xfrm>
            <a:off x="8248650" y="4781550"/>
            <a:ext cx="371475" cy="9525"/>
          </a:xfrm>
          <a:prstGeom prst="rect">
            <a:avLst/>
          </a:prstGeom>
          <a:solidFill>
            <a:srgbClr val="14253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2026-09-24T05:28:46Z</dcterms:created>
  <dcterms:modified xsi:type="dcterms:W3CDTF">2026-09-24T05:28:46Z</dcterms:modified>
</cp:coreProperties>
</file>